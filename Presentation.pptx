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8" r:id="rId3"/>
    <p:sldId id="269" r:id="rId4"/>
    <p:sldId id="261" r:id="rId5"/>
    <p:sldId id="260" r:id="rId6"/>
    <p:sldId id="258" r:id="rId7"/>
    <p:sldId id="272" r:id="rId8"/>
    <p:sldId id="263" r:id="rId9"/>
    <p:sldId id="266" r:id="rId10"/>
    <p:sldId id="265" r:id="rId11"/>
    <p:sldId id="267" r:id="rId12"/>
    <p:sldId id="270" r:id="rId13"/>
    <p:sldId id="271" r:id="rId14"/>
    <p:sldId id="264" r:id="rId15"/>
    <p:sldId id="262" r:id="rId16"/>
  </p:sldIdLst>
  <p:sldSz cx="12192000" cy="6858000"/>
  <p:notesSz cx="6858000" cy="9144000"/>
  <p:embeddedFontLst>
    <p:embeddedFont>
      <p:font typeface="Lato" panose="020F0502020204030203" pitchFamily="34" charset="0"/>
      <p:regular r:id="rId18"/>
      <p:bold r:id="rId19"/>
      <p:italic r:id="rId20"/>
      <p:boldItalic r:id="rId21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F6F6E"/>
    <a:srgbClr val="0202BE"/>
    <a:srgbClr val="36FF21"/>
    <a:srgbClr val="94C24A"/>
    <a:srgbClr val="2DB8C5"/>
    <a:srgbClr val="004F9F"/>
    <a:srgbClr val="F39200"/>
    <a:srgbClr val="2BA346"/>
    <a:srgbClr val="D91016"/>
    <a:srgbClr val="0088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49"/>
    <p:restoredTop sz="94708"/>
  </p:normalViewPr>
  <p:slideViewPr>
    <p:cSldViewPr snapToGrid="0" snapToObjects="1">
      <p:cViewPr>
        <p:scale>
          <a:sx n="75" d="100"/>
          <a:sy n="75" d="100"/>
        </p:scale>
        <p:origin x="2250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1F983-13B8-4B40-B431-2A40CD5006BA}" type="datetimeFigureOut">
              <a:rPr lang="de-DE" smtClean="0"/>
              <a:t>06.05.2026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23034-77AF-8C4A-A533-67E3BD38CA1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2632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Grauflä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D314EDFD-6EF6-FB45-93A6-6199BFFBC2A8}"/>
              </a:ext>
            </a:extLst>
          </p:cNvPr>
          <p:cNvSpPr/>
          <p:nvPr userDrawn="1"/>
        </p:nvSpPr>
        <p:spPr>
          <a:xfrm>
            <a:off x="859537" y="1201783"/>
            <a:ext cx="11332464" cy="5656217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5391" y="218941"/>
            <a:ext cx="1494000" cy="725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243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Bild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2">
            <a:extLst>
              <a:ext uri="{FF2B5EF4-FFF2-40B4-BE49-F238E27FC236}">
                <a16:creationId xmlns:a16="http://schemas.microsoft.com/office/drawing/2014/main" id="{430466EC-6BAC-1740-9AD5-D651F3F5A7A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58838" y="1201738"/>
            <a:ext cx="11333162" cy="5656262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5391" y="218941"/>
            <a:ext cx="1494000" cy="725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893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FB65EE10-ACFB-E14A-8DBE-0A195B1D855F}"/>
              </a:ext>
            </a:extLst>
          </p:cNvPr>
          <p:cNvSpPr/>
          <p:nvPr userDrawn="1"/>
        </p:nvSpPr>
        <p:spPr>
          <a:xfrm>
            <a:off x="0" y="569659"/>
            <a:ext cx="12192001" cy="6288341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dirty="0">
              <a:solidFill>
                <a:srgbClr val="6F6F6E"/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EA1656B-4002-B443-B8D7-1C860700F0F1}"/>
              </a:ext>
            </a:extLst>
          </p:cNvPr>
          <p:cNvSpPr/>
          <p:nvPr userDrawn="1"/>
        </p:nvSpPr>
        <p:spPr>
          <a:xfrm flipV="1">
            <a:off x="0" y="-5"/>
            <a:ext cx="12192001" cy="569664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dirty="0">
              <a:solidFill>
                <a:srgbClr val="6F6F6E"/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835D2C-E7F1-A544-B895-F06453DAC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2532461"/>
            <a:ext cx="10657115" cy="977467"/>
          </a:xfrm>
          <a:prstGeom prst="rect">
            <a:avLst/>
          </a:prstGeom>
        </p:spPr>
        <p:txBody>
          <a:bodyPr/>
          <a:lstStyle>
            <a:lvl1pPr algn="ctr">
              <a:defRPr sz="5400" b="1" i="0">
                <a:solidFill>
                  <a:srgbClr val="F0F0F0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2CD449F3-7839-2940-93C0-55AE25378A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8" y="3858689"/>
            <a:ext cx="10657115" cy="1540513"/>
          </a:xfrm>
          <a:prstGeom prst="rect">
            <a:avLst/>
          </a:prstGeom>
        </p:spPr>
        <p:txBody>
          <a:bodyPr/>
          <a:lstStyle>
            <a:lvl1pPr algn="ctr">
              <a:buNone/>
              <a:defRPr b="0" i="1">
                <a:solidFill>
                  <a:schemeClr val="bg1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1pPr>
            <a:lvl2pPr algn="ctr">
              <a:buNone/>
              <a:defRPr b="0" i="1">
                <a:solidFill>
                  <a:schemeClr val="bg1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2pPr>
            <a:lvl3pPr algn="ctr">
              <a:buNone/>
              <a:defRPr b="0" i="1">
                <a:solidFill>
                  <a:schemeClr val="bg1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3pPr>
            <a:lvl4pPr algn="ctr">
              <a:buNone/>
              <a:defRPr b="0" i="1">
                <a:solidFill>
                  <a:schemeClr val="bg1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4pPr>
            <a:lvl5pPr algn="ctr">
              <a:buNone/>
              <a:defRPr b="0" i="1">
                <a:solidFill>
                  <a:schemeClr val="bg1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Ecken des Rechtecks auf der gleichen Seite abrunden 12">
            <a:extLst>
              <a:ext uri="{FF2B5EF4-FFF2-40B4-BE49-F238E27FC236}">
                <a16:creationId xmlns:a16="http://schemas.microsoft.com/office/drawing/2014/main" id="{E5C23A2E-0362-FD44-9624-A0A7568B305D}"/>
              </a:ext>
            </a:extLst>
          </p:cNvPr>
          <p:cNvSpPr/>
          <p:nvPr userDrawn="1"/>
        </p:nvSpPr>
        <p:spPr>
          <a:xfrm rot="10800000">
            <a:off x="10229849" y="-7"/>
            <a:ext cx="1802310" cy="1073670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5391" y="218941"/>
            <a:ext cx="1494000" cy="725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774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einfach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6EA1656B-4002-B443-B8D7-1C860700F0F1}"/>
              </a:ext>
            </a:extLst>
          </p:cNvPr>
          <p:cNvSpPr/>
          <p:nvPr userDrawn="1"/>
        </p:nvSpPr>
        <p:spPr>
          <a:xfrm>
            <a:off x="0" y="569659"/>
            <a:ext cx="12192001" cy="628834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dirty="0">
              <a:solidFill>
                <a:srgbClr val="6F6F6E"/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835D2C-E7F1-A544-B895-F06453DAC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453" y="218566"/>
            <a:ext cx="9846870" cy="700133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rgbClr val="004F9F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9BA03A-A759-3443-957F-A78505520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62716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rgbClr val="6F6F6E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1pPr>
            <a:lvl2pPr>
              <a:defRPr b="1" i="0">
                <a:solidFill>
                  <a:srgbClr val="6F6F6E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2pPr>
            <a:lvl3pPr>
              <a:defRPr b="1" i="0">
                <a:solidFill>
                  <a:srgbClr val="6F6F6E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3pPr>
            <a:lvl4pPr>
              <a:defRPr b="1" i="0">
                <a:solidFill>
                  <a:srgbClr val="6F6F6E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4pPr>
            <a:lvl5pPr>
              <a:defRPr b="1" i="0">
                <a:solidFill>
                  <a:srgbClr val="6F6F6E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D573BAD-BD44-9846-992C-EAE7BE7471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61404"/>
            <a:ext cx="2743200" cy="283084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rgbClr val="6F6F6E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A3300B15-71B3-2640-88D4-EAE915F51ABA}" type="datetime1">
              <a:rPr lang="de-DE" smtClean="0"/>
              <a:t>06.05.2026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465710-7F62-784E-83AC-92E1948C1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61404"/>
            <a:ext cx="4114800" cy="283084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rgbClr val="6F6F6E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de-DE">
              <a:solidFill>
                <a:srgbClr val="6F6F6E"/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EEFAC5-ECF5-6948-97CC-841D2ED72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61404"/>
            <a:ext cx="2743200" cy="283084"/>
          </a:xfrm>
          <a:prstGeom prst="rect">
            <a:avLst/>
          </a:prstGeom>
        </p:spPr>
        <p:txBody>
          <a:bodyPr/>
          <a:lstStyle>
            <a:lvl1pPr algn="r">
              <a:defRPr sz="1400" b="0" i="0">
                <a:solidFill>
                  <a:srgbClr val="6F6F6E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BDAF7BE-D89C-6B49-BAC7-BAB901C4C797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1BFA20DD-2D12-8E4E-A599-C396321637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16527"/>
            <a:ext cx="9368123" cy="358320"/>
          </a:xfrm>
          <a:prstGeom prst="rect">
            <a:avLst/>
          </a:prstGeom>
        </p:spPr>
        <p:txBody>
          <a:bodyPr/>
          <a:lstStyle>
            <a:lvl1pPr>
              <a:buNone/>
              <a:defRPr sz="2000" b="1" i="0">
                <a:solidFill>
                  <a:srgbClr val="2DB8C5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1pPr>
            <a:lvl2pPr>
              <a:buNone/>
              <a:defRPr b="0" i="0">
                <a:solidFill>
                  <a:srgbClr val="004F9F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2pPr>
            <a:lvl3pPr>
              <a:buNone/>
              <a:defRPr b="0" i="0">
                <a:solidFill>
                  <a:srgbClr val="004F9F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3pPr>
            <a:lvl4pPr>
              <a:buNone/>
              <a:defRPr b="0" i="0">
                <a:solidFill>
                  <a:srgbClr val="004F9F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4pPr>
            <a:lvl5pPr>
              <a:buNone/>
              <a:defRPr b="0" i="0">
                <a:solidFill>
                  <a:srgbClr val="004F9F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8" name="Oval 6">
            <a:extLst>
              <a:ext uri="{FF2B5EF4-FFF2-40B4-BE49-F238E27FC236}">
                <a16:creationId xmlns:a16="http://schemas.microsoft.com/office/drawing/2014/main" id="{6C0714EC-3C5B-C844-B8CF-854BC18954B4}"/>
              </a:ext>
            </a:extLst>
          </p:cNvPr>
          <p:cNvSpPr/>
          <p:nvPr userDrawn="1"/>
        </p:nvSpPr>
        <p:spPr>
          <a:xfrm>
            <a:off x="359453" y="5926723"/>
            <a:ext cx="129343" cy="129343"/>
          </a:xfrm>
          <a:prstGeom prst="ellipse">
            <a:avLst/>
          </a:prstGeom>
          <a:solidFill>
            <a:srgbClr val="2BA3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Oval 7">
            <a:extLst>
              <a:ext uri="{FF2B5EF4-FFF2-40B4-BE49-F238E27FC236}">
                <a16:creationId xmlns:a16="http://schemas.microsoft.com/office/drawing/2014/main" id="{A4744D7C-BCD7-6E43-9883-C813C21FBDAF}"/>
              </a:ext>
            </a:extLst>
          </p:cNvPr>
          <p:cNvSpPr/>
          <p:nvPr userDrawn="1"/>
        </p:nvSpPr>
        <p:spPr>
          <a:xfrm>
            <a:off x="359453" y="6158999"/>
            <a:ext cx="129343" cy="129343"/>
          </a:xfrm>
          <a:prstGeom prst="ellipse">
            <a:avLst/>
          </a:prstGeom>
          <a:solidFill>
            <a:srgbClr val="D910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Oval 8">
            <a:extLst>
              <a:ext uri="{FF2B5EF4-FFF2-40B4-BE49-F238E27FC236}">
                <a16:creationId xmlns:a16="http://schemas.microsoft.com/office/drawing/2014/main" id="{4A60433E-D5CA-014D-920C-4C618E5952FF}"/>
              </a:ext>
            </a:extLst>
          </p:cNvPr>
          <p:cNvSpPr/>
          <p:nvPr userDrawn="1"/>
        </p:nvSpPr>
        <p:spPr>
          <a:xfrm>
            <a:off x="359453" y="6391275"/>
            <a:ext cx="129343" cy="129343"/>
          </a:xfrm>
          <a:prstGeom prst="ellipse">
            <a:avLst/>
          </a:prstGeom>
          <a:solidFill>
            <a:srgbClr val="008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Ecken des Rechtecks auf der gleichen Seite abrunden 12">
            <a:extLst>
              <a:ext uri="{FF2B5EF4-FFF2-40B4-BE49-F238E27FC236}">
                <a16:creationId xmlns:a16="http://schemas.microsoft.com/office/drawing/2014/main" id="{E5C23A2E-0362-FD44-9624-A0A7568B305D}"/>
              </a:ext>
            </a:extLst>
          </p:cNvPr>
          <p:cNvSpPr/>
          <p:nvPr userDrawn="1"/>
        </p:nvSpPr>
        <p:spPr>
          <a:xfrm rot="10800000">
            <a:off x="10229849" y="-7"/>
            <a:ext cx="1802310" cy="1073670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6" name="Grafik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5391" y="218941"/>
            <a:ext cx="1494000" cy="725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866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Bil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6EA1656B-4002-B443-B8D7-1C860700F0F1}"/>
              </a:ext>
            </a:extLst>
          </p:cNvPr>
          <p:cNvSpPr/>
          <p:nvPr userDrawn="1"/>
        </p:nvSpPr>
        <p:spPr>
          <a:xfrm>
            <a:off x="0" y="569659"/>
            <a:ext cx="12192001" cy="628834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dirty="0">
              <a:solidFill>
                <a:srgbClr val="6F6F6E"/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835D2C-E7F1-A544-B895-F06453DAC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453" y="218566"/>
            <a:ext cx="9846870" cy="700133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rgbClr val="004F9F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9BA03A-A759-3443-957F-A78505520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25625"/>
            <a:ext cx="5257800" cy="4462716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rgbClr val="6F6F6E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1pPr>
            <a:lvl2pPr>
              <a:defRPr b="1" i="0">
                <a:solidFill>
                  <a:srgbClr val="6F6F6E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2pPr>
            <a:lvl3pPr>
              <a:defRPr b="1" i="0">
                <a:solidFill>
                  <a:srgbClr val="6F6F6E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3pPr>
            <a:lvl4pPr>
              <a:defRPr b="1" i="0">
                <a:solidFill>
                  <a:srgbClr val="6F6F6E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4pPr>
            <a:lvl5pPr>
              <a:defRPr b="1" i="0">
                <a:solidFill>
                  <a:srgbClr val="6F6F6E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D573BAD-BD44-9846-992C-EAE7BE7471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61404"/>
            <a:ext cx="2743200" cy="283084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rgbClr val="6F6F6E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59B4827-A785-A84A-A0BE-BE5B3C5184E0}" type="datetime1">
              <a:rPr lang="de-DE" smtClean="0"/>
              <a:t>06.05.2026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465710-7F62-784E-83AC-92E1948C1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61404"/>
            <a:ext cx="4114800" cy="283084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rgbClr val="6F6F6E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de-DE">
              <a:solidFill>
                <a:srgbClr val="6F6F6E"/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EEFAC5-ECF5-6948-97CC-841D2ED72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61404"/>
            <a:ext cx="2743200" cy="283084"/>
          </a:xfrm>
          <a:prstGeom prst="rect">
            <a:avLst/>
          </a:prstGeom>
        </p:spPr>
        <p:txBody>
          <a:bodyPr/>
          <a:lstStyle>
            <a:lvl1pPr algn="r">
              <a:defRPr sz="1400" b="0" i="0">
                <a:solidFill>
                  <a:srgbClr val="6F6F6E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BDAF7BE-D89C-6B49-BAC7-BAB901C4C797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1BFA20DD-2D12-8E4E-A599-C396321637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16527"/>
            <a:ext cx="9368123" cy="358320"/>
          </a:xfrm>
          <a:prstGeom prst="rect">
            <a:avLst/>
          </a:prstGeom>
        </p:spPr>
        <p:txBody>
          <a:bodyPr/>
          <a:lstStyle>
            <a:lvl1pPr>
              <a:buNone/>
              <a:defRPr sz="2000" b="1" i="0">
                <a:solidFill>
                  <a:srgbClr val="2DB8C5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1pPr>
            <a:lvl2pPr>
              <a:buNone/>
              <a:defRPr b="0" i="0">
                <a:solidFill>
                  <a:srgbClr val="004F9F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2pPr>
            <a:lvl3pPr>
              <a:buNone/>
              <a:defRPr b="0" i="0">
                <a:solidFill>
                  <a:srgbClr val="004F9F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3pPr>
            <a:lvl4pPr>
              <a:buNone/>
              <a:defRPr b="0" i="0">
                <a:solidFill>
                  <a:srgbClr val="004F9F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4pPr>
            <a:lvl5pPr>
              <a:buNone/>
              <a:defRPr b="0" i="0">
                <a:solidFill>
                  <a:srgbClr val="004F9F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E2F7C0E8-6F45-194C-9101-46DDBD39959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0" y="1825372"/>
            <a:ext cx="4957763" cy="4462716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8" name="Oval 6">
            <a:extLst>
              <a:ext uri="{FF2B5EF4-FFF2-40B4-BE49-F238E27FC236}">
                <a16:creationId xmlns:a16="http://schemas.microsoft.com/office/drawing/2014/main" id="{6C0714EC-3C5B-C844-B8CF-854BC18954B4}"/>
              </a:ext>
            </a:extLst>
          </p:cNvPr>
          <p:cNvSpPr/>
          <p:nvPr userDrawn="1"/>
        </p:nvSpPr>
        <p:spPr>
          <a:xfrm>
            <a:off x="359453" y="5926723"/>
            <a:ext cx="129343" cy="129343"/>
          </a:xfrm>
          <a:prstGeom prst="ellipse">
            <a:avLst/>
          </a:prstGeom>
          <a:solidFill>
            <a:srgbClr val="2BA3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Oval 7">
            <a:extLst>
              <a:ext uri="{FF2B5EF4-FFF2-40B4-BE49-F238E27FC236}">
                <a16:creationId xmlns:a16="http://schemas.microsoft.com/office/drawing/2014/main" id="{A4744D7C-BCD7-6E43-9883-C813C21FBDAF}"/>
              </a:ext>
            </a:extLst>
          </p:cNvPr>
          <p:cNvSpPr/>
          <p:nvPr userDrawn="1"/>
        </p:nvSpPr>
        <p:spPr>
          <a:xfrm>
            <a:off x="359453" y="6158999"/>
            <a:ext cx="129343" cy="129343"/>
          </a:xfrm>
          <a:prstGeom prst="ellipse">
            <a:avLst/>
          </a:prstGeom>
          <a:solidFill>
            <a:srgbClr val="D910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Oval 8">
            <a:extLst>
              <a:ext uri="{FF2B5EF4-FFF2-40B4-BE49-F238E27FC236}">
                <a16:creationId xmlns:a16="http://schemas.microsoft.com/office/drawing/2014/main" id="{4A60433E-D5CA-014D-920C-4C618E5952FF}"/>
              </a:ext>
            </a:extLst>
          </p:cNvPr>
          <p:cNvSpPr/>
          <p:nvPr userDrawn="1"/>
        </p:nvSpPr>
        <p:spPr>
          <a:xfrm>
            <a:off x="359453" y="6391275"/>
            <a:ext cx="129343" cy="129343"/>
          </a:xfrm>
          <a:prstGeom prst="ellipse">
            <a:avLst/>
          </a:prstGeom>
          <a:solidFill>
            <a:srgbClr val="008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6" name="Ecken des Rechtecks auf der gleichen Seite abrunden 12">
            <a:extLst>
              <a:ext uri="{FF2B5EF4-FFF2-40B4-BE49-F238E27FC236}">
                <a16:creationId xmlns:a16="http://schemas.microsoft.com/office/drawing/2014/main" id="{E5C23A2E-0362-FD44-9624-A0A7568B305D}"/>
              </a:ext>
            </a:extLst>
          </p:cNvPr>
          <p:cNvSpPr/>
          <p:nvPr userDrawn="1"/>
        </p:nvSpPr>
        <p:spPr>
          <a:xfrm rot="10800000">
            <a:off x="10229849" y="-7"/>
            <a:ext cx="1802310" cy="1073670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2" name="Grafik 2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5391" y="218941"/>
            <a:ext cx="1494000" cy="725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971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Bil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6EA1656B-4002-B443-B8D7-1C860700F0F1}"/>
              </a:ext>
            </a:extLst>
          </p:cNvPr>
          <p:cNvSpPr/>
          <p:nvPr userDrawn="1"/>
        </p:nvSpPr>
        <p:spPr>
          <a:xfrm>
            <a:off x="0" y="569659"/>
            <a:ext cx="12192001" cy="628834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dirty="0">
              <a:solidFill>
                <a:srgbClr val="6F6F6E"/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E2F7C0E8-6F45-194C-9101-46DDBD39959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569658"/>
            <a:ext cx="5795963" cy="6288342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835D2C-E7F1-A544-B895-F06453DAC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453" y="218566"/>
            <a:ext cx="9846870" cy="700133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rgbClr val="004F9F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9BA03A-A759-3443-957F-A78505520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25625"/>
            <a:ext cx="5257800" cy="4462716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rgbClr val="6F6F6E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1pPr>
            <a:lvl2pPr>
              <a:defRPr b="1" i="0">
                <a:solidFill>
                  <a:srgbClr val="6F6F6E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2pPr>
            <a:lvl3pPr>
              <a:defRPr b="1" i="0">
                <a:solidFill>
                  <a:srgbClr val="6F6F6E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3pPr>
            <a:lvl4pPr>
              <a:defRPr b="1" i="0">
                <a:solidFill>
                  <a:srgbClr val="6F6F6E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4pPr>
            <a:lvl5pPr>
              <a:defRPr b="1" i="0">
                <a:solidFill>
                  <a:srgbClr val="6F6F6E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D573BAD-BD44-9846-992C-EAE7BE7471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61404"/>
            <a:ext cx="2743200" cy="283084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rgbClr val="6F6F6E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DA6F963D-7961-F84A-89CC-9E98B575DC55}" type="datetime1">
              <a:rPr lang="de-DE" smtClean="0"/>
              <a:t>06.05.2026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465710-7F62-784E-83AC-92E1948C1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61404"/>
            <a:ext cx="4114800" cy="283084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rgbClr val="6F6F6E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de-DE">
              <a:solidFill>
                <a:srgbClr val="6F6F6E"/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EEFAC5-ECF5-6948-97CC-841D2ED72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61404"/>
            <a:ext cx="2743200" cy="283084"/>
          </a:xfrm>
          <a:prstGeom prst="rect">
            <a:avLst/>
          </a:prstGeom>
        </p:spPr>
        <p:txBody>
          <a:bodyPr/>
          <a:lstStyle>
            <a:lvl1pPr algn="r">
              <a:defRPr sz="1400" b="0" i="0">
                <a:solidFill>
                  <a:srgbClr val="6F6F6E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BDAF7BE-D89C-6B49-BAC7-BAB901C4C797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1BFA20DD-2D12-8E4E-A599-C396321637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16527"/>
            <a:ext cx="9368123" cy="358320"/>
          </a:xfrm>
          <a:prstGeom prst="rect">
            <a:avLst/>
          </a:prstGeom>
        </p:spPr>
        <p:txBody>
          <a:bodyPr/>
          <a:lstStyle>
            <a:lvl1pPr>
              <a:buNone/>
              <a:defRPr sz="2000" b="1" i="0">
                <a:solidFill>
                  <a:srgbClr val="2DB8C5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1pPr>
            <a:lvl2pPr>
              <a:buNone/>
              <a:defRPr b="0" i="0">
                <a:solidFill>
                  <a:srgbClr val="004F9F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2pPr>
            <a:lvl3pPr>
              <a:buNone/>
              <a:defRPr b="0" i="0">
                <a:solidFill>
                  <a:srgbClr val="004F9F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3pPr>
            <a:lvl4pPr>
              <a:buNone/>
              <a:defRPr b="0" i="0">
                <a:solidFill>
                  <a:srgbClr val="004F9F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4pPr>
            <a:lvl5pPr>
              <a:buNone/>
              <a:defRPr b="0" i="0">
                <a:solidFill>
                  <a:srgbClr val="004F9F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8" name="Oval 6">
            <a:extLst>
              <a:ext uri="{FF2B5EF4-FFF2-40B4-BE49-F238E27FC236}">
                <a16:creationId xmlns:a16="http://schemas.microsoft.com/office/drawing/2014/main" id="{6C0714EC-3C5B-C844-B8CF-854BC18954B4}"/>
              </a:ext>
            </a:extLst>
          </p:cNvPr>
          <p:cNvSpPr/>
          <p:nvPr userDrawn="1"/>
        </p:nvSpPr>
        <p:spPr>
          <a:xfrm>
            <a:off x="359453" y="5926723"/>
            <a:ext cx="129343" cy="129343"/>
          </a:xfrm>
          <a:prstGeom prst="ellipse">
            <a:avLst/>
          </a:prstGeom>
          <a:solidFill>
            <a:srgbClr val="2BA3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Oval 7">
            <a:extLst>
              <a:ext uri="{FF2B5EF4-FFF2-40B4-BE49-F238E27FC236}">
                <a16:creationId xmlns:a16="http://schemas.microsoft.com/office/drawing/2014/main" id="{A4744D7C-BCD7-6E43-9883-C813C21FBDAF}"/>
              </a:ext>
            </a:extLst>
          </p:cNvPr>
          <p:cNvSpPr/>
          <p:nvPr userDrawn="1"/>
        </p:nvSpPr>
        <p:spPr>
          <a:xfrm>
            <a:off x="359453" y="6158999"/>
            <a:ext cx="129343" cy="129343"/>
          </a:xfrm>
          <a:prstGeom prst="ellipse">
            <a:avLst/>
          </a:prstGeom>
          <a:solidFill>
            <a:srgbClr val="D910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Oval 8">
            <a:extLst>
              <a:ext uri="{FF2B5EF4-FFF2-40B4-BE49-F238E27FC236}">
                <a16:creationId xmlns:a16="http://schemas.microsoft.com/office/drawing/2014/main" id="{4A60433E-D5CA-014D-920C-4C618E5952FF}"/>
              </a:ext>
            </a:extLst>
          </p:cNvPr>
          <p:cNvSpPr/>
          <p:nvPr userDrawn="1"/>
        </p:nvSpPr>
        <p:spPr>
          <a:xfrm>
            <a:off x="359453" y="6391275"/>
            <a:ext cx="129343" cy="129343"/>
          </a:xfrm>
          <a:prstGeom prst="ellipse">
            <a:avLst/>
          </a:prstGeom>
          <a:solidFill>
            <a:srgbClr val="008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6" name="Ecken des Rechtecks auf der gleichen Seite abrunden 12">
            <a:extLst>
              <a:ext uri="{FF2B5EF4-FFF2-40B4-BE49-F238E27FC236}">
                <a16:creationId xmlns:a16="http://schemas.microsoft.com/office/drawing/2014/main" id="{E5C23A2E-0362-FD44-9624-A0A7568B305D}"/>
              </a:ext>
            </a:extLst>
          </p:cNvPr>
          <p:cNvSpPr/>
          <p:nvPr userDrawn="1"/>
        </p:nvSpPr>
        <p:spPr>
          <a:xfrm rot="10800000">
            <a:off x="10229849" y="-7"/>
            <a:ext cx="1802310" cy="1073670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2" name="Grafik 2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5391" y="218941"/>
            <a:ext cx="1494000" cy="725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677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6EA1656B-4002-B443-B8D7-1C860700F0F1}"/>
              </a:ext>
            </a:extLst>
          </p:cNvPr>
          <p:cNvSpPr/>
          <p:nvPr userDrawn="1"/>
        </p:nvSpPr>
        <p:spPr>
          <a:xfrm>
            <a:off x="0" y="569659"/>
            <a:ext cx="12192001" cy="628834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dirty="0">
              <a:solidFill>
                <a:srgbClr val="6F6F6E"/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835D2C-E7F1-A544-B895-F06453DAC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453" y="218566"/>
            <a:ext cx="9846870" cy="700133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rgbClr val="004F9F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9BA03A-A759-3443-957F-A78505520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25625"/>
            <a:ext cx="5257800" cy="4462716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rgbClr val="6F6F6E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1pPr>
            <a:lvl2pPr>
              <a:defRPr b="1" i="0">
                <a:solidFill>
                  <a:srgbClr val="6F6F6E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2pPr>
            <a:lvl3pPr>
              <a:defRPr b="1" i="0">
                <a:solidFill>
                  <a:srgbClr val="6F6F6E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3pPr>
            <a:lvl4pPr>
              <a:defRPr b="1" i="0">
                <a:solidFill>
                  <a:srgbClr val="6F6F6E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4pPr>
            <a:lvl5pPr>
              <a:defRPr b="1" i="0">
                <a:solidFill>
                  <a:srgbClr val="6F6F6E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D573BAD-BD44-9846-992C-EAE7BE7471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61404"/>
            <a:ext cx="2743200" cy="283084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rgbClr val="6F6F6E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4D5060E9-FE27-CA4B-964B-C88B19DFC48A}" type="datetime1">
              <a:rPr lang="de-DE" smtClean="0"/>
              <a:t>06.05.2026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465710-7F62-784E-83AC-92E1948C1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61404"/>
            <a:ext cx="4114800" cy="283084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rgbClr val="6F6F6E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de-DE">
              <a:solidFill>
                <a:srgbClr val="6F6F6E"/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EEFAC5-ECF5-6948-97CC-841D2ED72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61404"/>
            <a:ext cx="2743200" cy="283084"/>
          </a:xfrm>
          <a:prstGeom prst="rect">
            <a:avLst/>
          </a:prstGeom>
        </p:spPr>
        <p:txBody>
          <a:bodyPr/>
          <a:lstStyle>
            <a:lvl1pPr algn="r">
              <a:defRPr sz="1400" b="0" i="0">
                <a:solidFill>
                  <a:srgbClr val="6F6F6E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BDAF7BE-D89C-6B49-BAC7-BAB901C4C797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1BFA20DD-2D12-8E4E-A599-C396321637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16527"/>
            <a:ext cx="9368123" cy="358320"/>
          </a:xfrm>
          <a:prstGeom prst="rect">
            <a:avLst/>
          </a:prstGeom>
        </p:spPr>
        <p:txBody>
          <a:bodyPr/>
          <a:lstStyle>
            <a:lvl1pPr>
              <a:buNone/>
              <a:defRPr sz="2000" b="1" i="0">
                <a:solidFill>
                  <a:srgbClr val="2DB8C5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1pPr>
            <a:lvl2pPr>
              <a:buNone/>
              <a:defRPr b="0" i="0">
                <a:solidFill>
                  <a:srgbClr val="004F9F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2pPr>
            <a:lvl3pPr>
              <a:buNone/>
              <a:defRPr b="0" i="0">
                <a:solidFill>
                  <a:srgbClr val="004F9F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3pPr>
            <a:lvl4pPr>
              <a:buNone/>
              <a:defRPr b="0" i="0">
                <a:solidFill>
                  <a:srgbClr val="004F9F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4pPr>
            <a:lvl5pPr>
              <a:buNone/>
              <a:defRPr b="0" i="0">
                <a:solidFill>
                  <a:srgbClr val="004F9F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6" name="Diagrammplatzhalter 15">
            <a:extLst>
              <a:ext uri="{FF2B5EF4-FFF2-40B4-BE49-F238E27FC236}">
                <a16:creationId xmlns:a16="http://schemas.microsoft.com/office/drawing/2014/main" id="{B4BA5CDA-34C7-AA43-9C86-9AD56BC8E529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838199" y="1825372"/>
            <a:ext cx="4950279" cy="4462716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9" name="Oval 6">
            <a:extLst>
              <a:ext uri="{FF2B5EF4-FFF2-40B4-BE49-F238E27FC236}">
                <a16:creationId xmlns:a16="http://schemas.microsoft.com/office/drawing/2014/main" id="{6C0714EC-3C5B-C844-B8CF-854BC18954B4}"/>
              </a:ext>
            </a:extLst>
          </p:cNvPr>
          <p:cNvSpPr/>
          <p:nvPr userDrawn="1"/>
        </p:nvSpPr>
        <p:spPr>
          <a:xfrm>
            <a:off x="359453" y="5926723"/>
            <a:ext cx="129343" cy="129343"/>
          </a:xfrm>
          <a:prstGeom prst="ellipse">
            <a:avLst/>
          </a:prstGeom>
          <a:solidFill>
            <a:srgbClr val="2BA3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Oval 7">
            <a:extLst>
              <a:ext uri="{FF2B5EF4-FFF2-40B4-BE49-F238E27FC236}">
                <a16:creationId xmlns:a16="http://schemas.microsoft.com/office/drawing/2014/main" id="{A4744D7C-BCD7-6E43-9883-C813C21FBDAF}"/>
              </a:ext>
            </a:extLst>
          </p:cNvPr>
          <p:cNvSpPr/>
          <p:nvPr userDrawn="1"/>
        </p:nvSpPr>
        <p:spPr>
          <a:xfrm>
            <a:off x="359453" y="6158999"/>
            <a:ext cx="129343" cy="129343"/>
          </a:xfrm>
          <a:prstGeom prst="ellipse">
            <a:avLst/>
          </a:prstGeom>
          <a:solidFill>
            <a:srgbClr val="D910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Oval 8">
            <a:extLst>
              <a:ext uri="{FF2B5EF4-FFF2-40B4-BE49-F238E27FC236}">
                <a16:creationId xmlns:a16="http://schemas.microsoft.com/office/drawing/2014/main" id="{4A60433E-D5CA-014D-920C-4C618E5952FF}"/>
              </a:ext>
            </a:extLst>
          </p:cNvPr>
          <p:cNvSpPr/>
          <p:nvPr userDrawn="1"/>
        </p:nvSpPr>
        <p:spPr>
          <a:xfrm>
            <a:off x="359453" y="6391275"/>
            <a:ext cx="129343" cy="129343"/>
          </a:xfrm>
          <a:prstGeom prst="ellipse">
            <a:avLst/>
          </a:prstGeom>
          <a:solidFill>
            <a:srgbClr val="008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7" name="Ecken des Rechtecks auf der gleichen Seite abrunden 12">
            <a:extLst>
              <a:ext uri="{FF2B5EF4-FFF2-40B4-BE49-F238E27FC236}">
                <a16:creationId xmlns:a16="http://schemas.microsoft.com/office/drawing/2014/main" id="{E5C23A2E-0362-FD44-9624-A0A7568B305D}"/>
              </a:ext>
            </a:extLst>
          </p:cNvPr>
          <p:cNvSpPr/>
          <p:nvPr userDrawn="1"/>
        </p:nvSpPr>
        <p:spPr>
          <a:xfrm rot="10800000">
            <a:off x="10229849" y="-7"/>
            <a:ext cx="1802310" cy="1073670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5391" y="218941"/>
            <a:ext cx="1494000" cy="725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437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6EA1656B-4002-B443-B8D7-1C860700F0F1}"/>
              </a:ext>
            </a:extLst>
          </p:cNvPr>
          <p:cNvSpPr/>
          <p:nvPr userDrawn="1"/>
        </p:nvSpPr>
        <p:spPr>
          <a:xfrm>
            <a:off x="0" y="569659"/>
            <a:ext cx="12192001" cy="628834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dirty="0">
              <a:solidFill>
                <a:srgbClr val="6F6F6E"/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835D2C-E7F1-A544-B895-F06453DAC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453" y="218566"/>
            <a:ext cx="9846870" cy="700133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rgbClr val="004F9F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D573BAD-BD44-9846-992C-EAE7BE7471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61404"/>
            <a:ext cx="2743200" cy="283084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rgbClr val="6F6F6E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47D71BA-17F3-D049-A660-20ECE25BB8ED}" type="datetime1">
              <a:rPr lang="de-DE" smtClean="0"/>
              <a:t>06.05.2026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465710-7F62-784E-83AC-92E1948C1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61404"/>
            <a:ext cx="4114800" cy="283084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rgbClr val="6F6F6E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de-DE">
              <a:solidFill>
                <a:srgbClr val="6F6F6E"/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EEFAC5-ECF5-6948-97CC-841D2ED72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61404"/>
            <a:ext cx="2743200" cy="283084"/>
          </a:xfrm>
          <a:prstGeom prst="rect">
            <a:avLst/>
          </a:prstGeom>
        </p:spPr>
        <p:txBody>
          <a:bodyPr/>
          <a:lstStyle>
            <a:lvl1pPr algn="r">
              <a:defRPr sz="1400" b="0" i="0">
                <a:solidFill>
                  <a:srgbClr val="6F6F6E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BDAF7BE-D89C-6B49-BAC7-BAB901C4C797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1BFA20DD-2D12-8E4E-A599-C396321637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16527"/>
            <a:ext cx="5075463" cy="358320"/>
          </a:xfrm>
          <a:prstGeom prst="rect">
            <a:avLst/>
          </a:prstGeom>
        </p:spPr>
        <p:txBody>
          <a:bodyPr/>
          <a:lstStyle>
            <a:lvl1pPr>
              <a:buNone/>
              <a:defRPr sz="2000" b="1" i="0">
                <a:solidFill>
                  <a:srgbClr val="2DB8C5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1pPr>
            <a:lvl2pPr>
              <a:buNone/>
              <a:defRPr b="0" i="0">
                <a:solidFill>
                  <a:srgbClr val="004F9F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2pPr>
            <a:lvl3pPr>
              <a:buNone/>
              <a:defRPr b="0" i="0">
                <a:solidFill>
                  <a:srgbClr val="004F9F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3pPr>
            <a:lvl4pPr>
              <a:buNone/>
              <a:defRPr b="0" i="0">
                <a:solidFill>
                  <a:srgbClr val="004F9F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4pPr>
            <a:lvl5pPr>
              <a:buNone/>
              <a:defRPr b="0" i="0">
                <a:solidFill>
                  <a:srgbClr val="004F9F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6" name="Diagrammplatzhalter 15">
            <a:extLst>
              <a:ext uri="{FF2B5EF4-FFF2-40B4-BE49-F238E27FC236}">
                <a16:creationId xmlns:a16="http://schemas.microsoft.com/office/drawing/2014/main" id="{B4BA5CDA-34C7-AA43-9C86-9AD56BC8E529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838199" y="1825372"/>
            <a:ext cx="5075464" cy="4462716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8" name="Diagrammplatzhalter 15">
            <a:extLst>
              <a:ext uri="{FF2B5EF4-FFF2-40B4-BE49-F238E27FC236}">
                <a16:creationId xmlns:a16="http://schemas.microsoft.com/office/drawing/2014/main" id="{1741B592-4BE7-A449-BAF4-3471718DD287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278337" y="1823142"/>
            <a:ext cx="5075464" cy="4462716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9" name="Textplatzhalter 14">
            <a:extLst>
              <a:ext uri="{FF2B5EF4-FFF2-40B4-BE49-F238E27FC236}">
                <a16:creationId xmlns:a16="http://schemas.microsoft.com/office/drawing/2014/main" id="{A98DBBBB-4FF1-BD45-8294-A2784D8699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78337" y="1016527"/>
            <a:ext cx="5075463" cy="358320"/>
          </a:xfrm>
          <a:prstGeom prst="rect">
            <a:avLst/>
          </a:prstGeom>
        </p:spPr>
        <p:txBody>
          <a:bodyPr/>
          <a:lstStyle>
            <a:lvl1pPr>
              <a:buNone/>
              <a:defRPr sz="2000" b="1" i="0">
                <a:solidFill>
                  <a:srgbClr val="2DB8C5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1pPr>
            <a:lvl2pPr>
              <a:buNone/>
              <a:defRPr b="0" i="0">
                <a:solidFill>
                  <a:srgbClr val="004F9F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2pPr>
            <a:lvl3pPr>
              <a:buNone/>
              <a:defRPr b="0" i="0">
                <a:solidFill>
                  <a:srgbClr val="004F9F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3pPr>
            <a:lvl4pPr>
              <a:buNone/>
              <a:defRPr b="0" i="0">
                <a:solidFill>
                  <a:srgbClr val="004F9F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4pPr>
            <a:lvl5pPr>
              <a:buNone/>
              <a:defRPr b="0" i="0">
                <a:solidFill>
                  <a:srgbClr val="004F9F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1" name="Oval 6">
            <a:extLst>
              <a:ext uri="{FF2B5EF4-FFF2-40B4-BE49-F238E27FC236}">
                <a16:creationId xmlns:a16="http://schemas.microsoft.com/office/drawing/2014/main" id="{6C0714EC-3C5B-C844-B8CF-854BC18954B4}"/>
              </a:ext>
            </a:extLst>
          </p:cNvPr>
          <p:cNvSpPr/>
          <p:nvPr userDrawn="1"/>
        </p:nvSpPr>
        <p:spPr>
          <a:xfrm>
            <a:off x="359453" y="5926723"/>
            <a:ext cx="129343" cy="129343"/>
          </a:xfrm>
          <a:prstGeom prst="ellipse">
            <a:avLst/>
          </a:prstGeom>
          <a:solidFill>
            <a:srgbClr val="2BA3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Oval 7">
            <a:extLst>
              <a:ext uri="{FF2B5EF4-FFF2-40B4-BE49-F238E27FC236}">
                <a16:creationId xmlns:a16="http://schemas.microsoft.com/office/drawing/2014/main" id="{A4744D7C-BCD7-6E43-9883-C813C21FBDAF}"/>
              </a:ext>
            </a:extLst>
          </p:cNvPr>
          <p:cNvSpPr/>
          <p:nvPr userDrawn="1"/>
        </p:nvSpPr>
        <p:spPr>
          <a:xfrm>
            <a:off x="359453" y="6158999"/>
            <a:ext cx="129343" cy="129343"/>
          </a:xfrm>
          <a:prstGeom prst="ellipse">
            <a:avLst/>
          </a:prstGeom>
          <a:solidFill>
            <a:srgbClr val="D910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Oval 8">
            <a:extLst>
              <a:ext uri="{FF2B5EF4-FFF2-40B4-BE49-F238E27FC236}">
                <a16:creationId xmlns:a16="http://schemas.microsoft.com/office/drawing/2014/main" id="{4A60433E-D5CA-014D-920C-4C618E5952FF}"/>
              </a:ext>
            </a:extLst>
          </p:cNvPr>
          <p:cNvSpPr/>
          <p:nvPr userDrawn="1"/>
        </p:nvSpPr>
        <p:spPr>
          <a:xfrm>
            <a:off x="359453" y="6391275"/>
            <a:ext cx="129343" cy="129343"/>
          </a:xfrm>
          <a:prstGeom prst="ellipse">
            <a:avLst/>
          </a:prstGeom>
          <a:solidFill>
            <a:srgbClr val="008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7" name="Ecken des Rechtecks auf der gleichen Seite abrunden 12">
            <a:extLst>
              <a:ext uri="{FF2B5EF4-FFF2-40B4-BE49-F238E27FC236}">
                <a16:creationId xmlns:a16="http://schemas.microsoft.com/office/drawing/2014/main" id="{E5C23A2E-0362-FD44-9624-A0A7568B305D}"/>
              </a:ext>
            </a:extLst>
          </p:cNvPr>
          <p:cNvSpPr/>
          <p:nvPr userDrawn="1"/>
        </p:nvSpPr>
        <p:spPr>
          <a:xfrm rot="10800000">
            <a:off x="10229849" y="-7"/>
            <a:ext cx="1802310" cy="1073670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4" name="Grafik 2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5391" y="218941"/>
            <a:ext cx="1494000" cy="725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633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6">
            <a:extLst>
              <a:ext uri="{FF2B5EF4-FFF2-40B4-BE49-F238E27FC236}">
                <a16:creationId xmlns:a16="http://schemas.microsoft.com/office/drawing/2014/main" id="{6C0714EC-3C5B-C844-B8CF-854BC18954B4}"/>
              </a:ext>
            </a:extLst>
          </p:cNvPr>
          <p:cNvSpPr/>
          <p:nvPr userDrawn="1"/>
        </p:nvSpPr>
        <p:spPr>
          <a:xfrm>
            <a:off x="359453" y="5926723"/>
            <a:ext cx="129343" cy="129343"/>
          </a:xfrm>
          <a:prstGeom prst="ellipse">
            <a:avLst/>
          </a:prstGeom>
          <a:solidFill>
            <a:srgbClr val="2BA3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Oval 7">
            <a:extLst>
              <a:ext uri="{FF2B5EF4-FFF2-40B4-BE49-F238E27FC236}">
                <a16:creationId xmlns:a16="http://schemas.microsoft.com/office/drawing/2014/main" id="{A4744D7C-BCD7-6E43-9883-C813C21FBDAF}"/>
              </a:ext>
            </a:extLst>
          </p:cNvPr>
          <p:cNvSpPr/>
          <p:nvPr userDrawn="1"/>
        </p:nvSpPr>
        <p:spPr>
          <a:xfrm>
            <a:off x="359453" y="6158999"/>
            <a:ext cx="129343" cy="129343"/>
          </a:xfrm>
          <a:prstGeom prst="ellipse">
            <a:avLst/>
          </a:prstGeom>
          <a:solidFill>
            <a:srgbClr val="D910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Oval 8">
            <a:extLst>
              <a:ext uri="{FF2B5EF4-FFF2-40B4-BE49-F238E27FC236}">
                <a16:creationId xmlns:a16="http://schemas.microsoft.com/office/drawing/2014/main" id="{4A60433E-D5CA-014D-920C-4C618E5952FF}"/>
              </a:ext>
            </a:extLst>
          </p:cNvPr>
          <p:cNvSpPr/>
          <p:nvPr userDrawn="1"/>
        </p:nvSpPr>
        <p:spPr>
          <a:xfrm>
            <a:off x="359453" y="6391275"/>
            <a:ext cx="129343" cy="129343"/>
          </a:xfrm>
          <a:prstGeom prst="ellipse">
            <a:avLst/>
          </a:prstGeom>
          <a:solidFill>
            <a:srgbClr val="008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63249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2" r:id="rId3"/>
    <p:sldLayoutId id="2147483650" r:id="rId4"/>
    <p:sldLayoutId id="2147483653" r:id="rId5"/>
    <p:sldLayoutId id="2147483654" r:id="rId6"/>
    <p:sldLayoutId id="2147483655" r:id="rId7"/>
    <p:sldLayoutId id="2147483656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enoPecht-Public/Neural-Networks-an-exemplary-introduction" TargetMode="External"/><Relationship Id="rId2" Type="http://schemas.openxmlformats.org/officeDocument/2006/relationships/hyperlink" Target="https://creativecommons.org/licenses/by-sa/4.0/deed.en" TargetMode="Externa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Alternativer Prozess 15">
            <a:extLst>
              <a:ext uri="{FF2B5EF4-FFF2-40B4-BE49-F238E27FC236}">
                <a16:creationId xmlns:a16="http://schemas.microsoft.com/office/drawing/2014/main" id="{584EBD70-734A-934A-9FF7-614872B100DA}"/>
              </a:ext>
            </a:extLst>
          </p:cNvPr>
          <p:cNvSpPr/>
          <p:nvPr/>
        </p:nvSpPr>
        <p:spPr>
          <a:xfrm>
            <a:off x="359453" y="2988452"/>
            <a:ext cx="7990627" cy="891122"/>
          </a:xfrm>
          <a:prstGeom prst="roundRect">
            <a:avLst/>
          </a:prstGeom>
          <a:solidFill>
            <a:srgbClr val="004F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Alternativer Prozess 15">
            <a:extLst>
              <a:ext uri="{FF2B5EF4-FFF2-40B4-BE49-F238E27FC236}">
                <a16:creationId xmlns:a16="http://schemas.microsoft.com/office/drawing/2014/main" id="{584EBD70-734A-934A-9FF7-614872B100DA}"/>
              </a:ext>
            </a:extLst>
          </p:cNvPr>
          <p:cNvSpPr/>
          <p:nvPr/>
        </p:nvSpPr>
        <p:spPr>
          <a:xfrm>
            <a:off x="359452" y="2040918"/>
            <a:ext cx="5021089" cy="891122"/>
          </a:xfrm>
          <a:prstGeom prst="roundRect">
            <a:avLst/>
          </a:prstGeom>
          <a:solidFill>
            <a:srgbClr val="004F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Textplatzhalter 16">
            <a:extLst>
              <a:ext uri="{FF2B5EF4-FFF2-40B4-BE49-F238E27FC236}">
                <a16:creationId xmlns:a16="http://schemas.microsoft.com/office/drawing/2014/main" id="{531B2561-A469-2345-8F26-A2B7143DBE62}"/>
              </a:ext>
            </a:extLst>
          </p:cNvPr>
          <p:cNvSpPr txBox="1">
            <a:spLocks/>
          </p:cNvSpPr>
          <p:nvPr/>
        </p:nvSpPr>
        <p:spPr>
          <a:xfrm>
            <a:off x="438150" y="2123924"/>
            <a:ext cx="5021089" cy="6136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1" i="0" kern="1200">
                <a:solidFill>
                  <a:schemeClr val="bg1"/>
                </a:solidFill>
                <a:latin typeface="Lato" panose="020F0502020204030203" pitchFamily="34" charset="0"/>
                <a:ea typeface="+mn-ea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i="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i="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i="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i="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Neural Networks</a:t>
            </a:r>
            <a:endParaRPr lang="de-DE" dirty="0"/>
          </a:p>
        </p:txBody>
      </p:sp>
      <p:sp>
        <p:nvSpPr>
          <p:cNvPr id="36" name="Textplatzhalter 16">
            <a:extLst>
              <a:ext uri="{FF2B5EF4-FFF2-40B4-BE49-F238E27FC236}">
                <a16:creationId xmlns:a16="http://schemas.microsoft.com/office/drawing/2014/main" id="{313F88AA-599B-3641-8F4A-F433E7FBA87B}"/>
              </a:ext>
            </a:extLst>
          </p:cNvPr>
          <p:cNvSpPr txBox="1">
            <a:spLocks/>
          </p:cNvSpPr>
          <p:nvPr/>
        </p:nvSpPr>
        <p:spPr>
          <a:xfrm>
            <a:off x="438149" y="3077327"/>
            <a:ext cx="7990627" cy="6136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1" i="0" kern="1200">
                <a:solidFill>
                  <a:schemeClr val="bg1"/>
                </a:solidFill>
                <a:latin typeface="Lato" panose="020F0502020204030203" pitchFamily="34" charset="0"/>
                <a:ea typeface="+mn-ea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i="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i="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i="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i="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an exemplary introduction</a:t>
            </a:r>
            <a:endParaRPr lang="de-DE" dirty="0"/>
          </a:p>
        </p:txBody>
      </p:sp>
      <p:sp>
        <p:nvSpPr>
          <p:cNvPr id="37" name="Alternativer Prozess 15">
            <a:extLst>
              <a:ext uri="{FF2B5EF4-FFF2-40B4-BE49-F238E27FC236}">
                <a16:creationId xmlns:a16="http://schemas.microsoft.com/office/drawing/2014/main" id="{584EBD70-734A-934A-9FF7-614872B100DA}"/>
              </a:ext>
            </a:extLst>
          </p:cNvPr>
          <p:cNvSpPr/>
          <p:nvPr/>
        </p:nvSpPr>
        <p:spPr>
          <a:xfrm>
            <a:off x="359452" y="3935986"/>
            <a:ext cx="2594760" cy="60297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004F9F"/>
              </a:solidFill>
            </a:endParaRPr>
          </a:p>
        </p:txBody>
      </p:sp>
      <p:sp>
        <p:nvSpPr>
          <p:cNvPr id="38" name="Textplatzhalter 16">
            <a:extLst>
              <a:ext uri="{FF2B5EF4-FFF2-40B4-BE49-F238E27FC236}">
                <a16:creationId xmlns:a16="http://schemas.microsoft.com/office/drawing/2014/main" id="{313F88AA-599B-3641-8F4A-F433E7FBA87B}"/>
              </a:ext>
            </a:extLst>
          </p:cNvPr>
          <p:cNvSpPr txBox="1">
            <a:spLocks/>
          </p:cNvSpPr>
          <p:nvPr/>
        </p:nvSpPr>
        <p:spPr>
          <a:xfrm>
            <a:off x="438151" y="3973818"/>
            <a:ext cx="2594760" cy="41878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1" i="0" kern="1200">
                <a:solidFill>
                  <a:schemeClr val="bg1"/>
                </a:solidFill>
                <a:latin typeface="Lato" panose="020F0502020204030203" pitchFamily="34" charset="0"/>
                <a:ea typeface="+mn-ea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i="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i="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i="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i="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3200" dirty="0">
                <a:solidFill>
                  <a:srgbClr val="004F9F"/>
                </a:solidFill>
              </a:rPr>
              <a:t>Keno </a:t>
            </a:r>
            <a:r>
              <a:rPr lang="de-DE" sz="3200" dirty="0" err="1">
                <a:solidFill>
                  <a:srgbClr val="004F9F"/>
                </a:solidFill>
              </a:rPr>
              <a:t>Pecht</a:t>
            </a:r>
            <a:endParaRPr lang="de-DE" sz="3200" dirty="0">
              <a:solidFill>
                <a:srgbClr val="004F9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7733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814C8-0302-8BE9-45C2-E71B95DD5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B03BEC84-3C6D-9590-D516-132AF3C8E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Neural Networks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9272572-F4F2-9D8E-6492-4DD9E06AE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62716"/>
          </a:xfrm>
        </p:spPr>
        <p:txBody>
          <a:bodyPr/>
          <a:lstStyle/>
          <a:p>
            <a:r>
              <a:rPr lang="en-GB" sz="2400" b="0" noProof="0" dirty="0"/>
              <a:t>The aim of this presentation is to give an intuition of what happens inside a neural network.</a:t>
            </a:r>
          </a:p>
          <a:p>
            <a:endParaRPr lang="en-GB" sz="2400" b="0" dirty="0"/>
          </a:p>
          <a:p>
            <a:r>
              <a:rPr lang="en-GB" sz="2400" b="0" dirty="0"/>
              <a:t>The aim is not be complete.</a:t>
            </a:r>
            <a:endParaRPr lang="en-GB" sz="2400" b="0" noProof="0" dirty="0"/>
          </a:p>
          <a:p>
            <a:endParaRPr lang="en-GB" sz="2400" b="0" dirty="0"/>
          </a:p>
          <a:p>
            <a:r>
              <a:rPr lang="en-GB" sz="2400" b="0" dirty="0"/>
              <a:t>A toy model of a Convolutional Neural Network that detects lamps on lampposts will be presented.</a:t>
            </a:r>
          </a:p>
          <a:p>
            <a:endParaRPr lang="en-GB" sz="2400" b="0" noProof="0" dirty="0"/>
          </a:p>
          <a:p>
            <a:r>
              <a:rPr lang="en-GB" sz="2400" b="0" dirty="0"/>
              <a:t>When there was a conflict between faithfulness to reality and teachability, the latter took precedence. </a:t>
            </a:r>
            <a:endParaRPr lang="en-GB" sz="2400" b="0" noProof="0" dirty="0"/>
          </a:p>
          <a:p>
            <a:endParaRPr lang="en-GB" sz="2400" b="0" dirty="0"/>
          </a:p>
          <a:p>
            <a:pPr marL="0" indent="0">
              <a:buNone/>
            </a:pPr>
            <a:endParaRPr lang="en-GB" sz="2400" b="0" dirty="0"/>
          </a:p>
          <a:p>
            <a:pPr lvl="1"/>
            <a:endParaRPr lang="en-GB" sz="2000" b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9EBB8ADD-57C5-2515-CB20-B30B602C6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a concrete introduction with the example of object detection in images</a:t>
            </a:r>
            <a:endParaRPr lang="en-GB" noProof="0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FC158A6-C53D-68C3-E265-3701F8894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>
                <a:solidFill>
                  <a:srgbClr val="6F6F6E"/>
                </a:solidFill>
              </a:rPr>
              <a:t>…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7AFA5C8-6C0E-BA38-BF9F-7E1846418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AF7BE-D89C-6B49-BAC7-BAB901C4C797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AB957A1-A4CD-47ED-7729-606BEBB03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717F-68C7-774B-A5E1-BB8004DE5120}" type="datetime1">
              <a:rPr lang="de-DE" smtClean="0"/>
              <a:t>06.05.2026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01522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04E83-34E4-5FC3-8508-9F29FEA8E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7089482-F641-5374-E012-6C8B9B03E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Neural Networks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E378943-11E5-D0FF-DD9E-1107E9270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462716"/>
          </a:xfrm>
        </p:spPr>
        <p:txBody>
          <a:bodyPr/>
          <a:lstStyle/>
          <a:p>
            <a:r>
              <a:rPr lang="en-GB" sz="2400" b="0" dirty="0"/>
              <a:t>The toy model is in Moodle as an Excel-file.</a:t>
            </a:r>
          </a:p>
          <a:p>
            <a:endParaRPr lang="en-GB" sz="2400" b="0" dirty="0"/>
          </a:p>
          <a:p>
            <a:r>
              <a:rPr lang="en-GB" sz="2400" b="0" dirty="0"/>
              <a:t>I intentionally changed some of the parameters so that it does not work currently.</a:t>
            </a:r>
          </a:p>
          <a:p>
            <a:endParaRPr lang="en-GB" sz="2400" b="0" dirty="0"/>
          </a:p>
          <a:p>
            <a:r>
              <a:rPr lang="en-GB" sz="2400" b="0" dirty="0"/>
              <a:t>I hope to be able to get you to reason through what those missing parameters should be.</a:t>
            </a:r>
          </a:p>
          <a:p>
            <a:pPr lvl="1"/>
            <a:endParaRPr lang="en-GB" sz="2000" b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05AD2EA-21B6-A3C8-AA98-0446B25298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a concrete introduction with the example of object detection in images</a:t>
            </a:r>
            <a:endParaRPr lang="en-GB" noProof="0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C90D9E8-2D5D-C923-9882-429582B34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>
                <a:solidFill>
                  <a:srgbClr val="6F6F6E"/>
                </a:solidFill>
              </a:rPr>
              <a:t>…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C9732A9-2320-D841-158F-AEC69BB95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AF7BE-D89C-6B49-BAC7-BAB901C4C797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C9F6316-4F45-EE23-3640-00F379C37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717F-68C7-774B-A5E1-BB8004DE5120}" type="datetime1">
              <a:rPr lang="de-DE" smtClean="0"/>
              <a:t>06.05.2026</a:t>
            </a:fld>
            <a:endParaRPr lang="de-DE" dirty="0"/>
          </a:p>
        </p:txBody>
      </p:sp>
      <p:pic>
        <p:nvPicPr>
          <p:cNvPr id="23" name="Picture 22" descr="A collage of a street light at night&#10;&#10;Description automatically generated">
            <a:extLst>
              <a:ext uri="{FF2B5EF4-FFF2-40B4-BE49-F238E27FC236}">
                <a16:creationId xmlns:a16="http://schemas.microsoft.com/office/drawing/2014/main" id="{9BDFC562-C426-137C-0771-75B1B6D96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825624"/>
            <a:ext cx="3962400" cy="4457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012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026EF-8772-D893-52E3-93E5B47BD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579A82A-C5DF-0BC9-5284-F0D6D64BB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 detection in images 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85A5580-C02F-15B0-582E-4514A3FD3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462716"/>
          </a:xfrm>
        </p:spPr>
        <p:txBody>
          <a:bodyPr/>
          <a:lstStyle/>
          <a:p>
            <a:r>
              <a:rPr lang="en-GB" sz="2400" b="0" noProof="0" dirty="0"/>
              <a:t>The input is an image </a:t>
            </a:r>
          </a:p>
          <a:p>
            <a:endParaRPr lang="en-GB" sz="2400" b="0" noProof="0" dirty="0"/>
          </a:p>
          <a:p>
            <a:pPr lvl="1"/>
            <a:r>
              <a:rPr lang="en-GB" sz="2000" b="0" dirty="0"/>
              <a:t>i.e.: a 2D grid of brightness values [0,1]</a:t>
            </a:r>
            <a:endParaRPr lang="en-GB" sz="2000" b="0" noProof="0" dirty="0"/>
          </a:p>
          <a:p>
            <a:endParaRPr lang="en-GB" sz="2400" b="0" dirty="0"/>
          </a:p>
          <a:p>
            <a:r>
              <a:rPr lang="en-GB" sz="2400" b="0" dirty="0"/>
              <a:t>The output is an image as well</a:t>
            </a:r>
          </a:p>
          <a:p>
            <a:endParaRPr lang="en-GB" sz="2400" b="0" dirty="0"/>
          </a:p>
          <a:p>
            <a:pPr lvl="1"/>
            <a:r>
              <a:rPr lang="en-GB" sz="2000" b="0" dirty="0"/>
              <a:t>Also, with pixel values [0,1]</a:t>
            </a:r>
          </a:p>
          <a:p>
            <a:pPr lvl="1"/>
            <a:endParaRPr lang="en-GB" sz="2000" b="0" dirty="0"/>
          </a:p>
          <a:p>
            <a:pPr lvl="1"/>
            <a:r>
              <a:rPr lang="en-GB" sz="2000" b="0" dirty="0"/>
              <a:t>This image highlights where some object was detected in the input</a:t>
            </a:r>
          </a:p>
          <a:p>
            <a:pPr lvl="1"/>
            <a:endParaRPr lang="en-GB" sz="2000" b="0" dirty="0"/>
          </a:p>
          <a:p>
            <a:pPr lvl="1"/>
            <a:endParaRPr lang="en-GB" sz="2000" b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BD71304-8A32-D265-0AEB-77B6A55D7A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noProof="0" dirty="0"/>
              <a:t>The problem described in terms of data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0234545-8B30-2C7F-8803-F7B074ABA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>
                <a:solidFill>
                  <a:srgbClr val="6F6F6E"/>
                </a:solidFill>
              </a:rPr>
              <a:t>…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304DFD7-C683-6D8D-586F-897264E5A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AF7BE-D89C-6B49-BAC7-BAB901C4C797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DE3D4D3-C40C-8A06-92F0-6D17FCFC0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717F-68C7-774B-A5E1-BB8004DE5120}" type="datetime1">
              <a:rPr lang="de-DE" smtClean="0"/>
              <a:t>06.05.2026</a:t>
            </a:fld>
            <a:endParaRPr lang="de-DE" dirty="0"/>
          </a:p>
        </p:txBody>
      </p:sp>
      <p:pic>
        <p:nvPicPr>
          <p:cNvPr id="9" name="Picture 8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773537F6-901F-1B2C-6893-2B96F13FA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476" y="1369476"/>
            <a:ext cx="4910846" cy="2428973"/>
          </a:xfrm>
          <a:prstGeom prst="rect">
            <a:avLst/>
          </a:prstGeom>
        </p:spPr>
      </p:pic>
      <p:pic>
        <p:nvPicPr>
          <p:cNvPr id="11" name="Picture 10" descr="A screen shot of a screen&#10;&#10;Description automatically generated">
            <a:extLst>
              <a:ext uri="{FF2B5EF4-FFF2-40B4-BE49-F238E27FC236}">
                <a16:creationId xmlns:a16="http://schemas.microsoft.com/office/drawing/2014/main" id="{D919DEB8-A6AA-07B3-927E-F17A0B2D5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476" y="3857185"/>
            <a:ext cx="4910846" cy="243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24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9E1C3-C374-CAF6-7218-CA077C74A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966839BC-7F46-FD9E-0775-21EA9746D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Convolution</a:t>
            </a:r>
            <a:r>
              <a:rPr lang="en-GB" dirty="0"/>
              <a:t>(al neural network)s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F40FD4FD-61CC-F92D-2558-0980F1493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462716"/>
          </a:xfrm>
        </p:spPr>
        <p:txBody>
          <a:bodyPr/>
          <a:lstStyle/>
          <a:p>
            <a:r>
              <a:rPr lang="en-GB" sz="2400" b="0" dirty="0"/>
              <a:t>Let us look just at the convolution layers today.</a:t>
            </a:r>
          </a:p>
          <a:p>
            <a:endParaRPr lang="en-GB" sz="2400" b="0" dirty="0"/>
          </a:p>
          <a:p>
            <a:r>
              <a:rPr lang="en-GB" sz="2400" b="0" dirty="0"/>
              <a:t>Each pixel value in an output layer is a function of its neighbours its input layer.</a:t>
            </a:r>
          </a:p>
          <a:p>
            <a:endParaRPr lang="en-GB" sz="2400" b="0" dirty="0"/>
          </a:p>
          <a:p>
            <a:r>
              <a:rPr lang="en-GB" sz="2400" b="0" dirty="0"/>
              <a:t>The values in the </a:t>
            </a:r>
            <a:r>
              <a:rPr lang="en-GB" sz="2400" dirty="0"/>
              <a:t>convolution kernel</a:t>
            </a:r>
            <a:r>
              <a:rPr lang="en-GB" sz="2400" b="0" dirty="0"/>
              <a:t> are </a:t>
            </a:r>
            <a:r>
              <a:rPr lang="en-GB" sz="2400" dirty="0"/>
              <a:t>learned</a:t>
            </a:r>
            <a:r>
              <a:rPr lang="en-GB" sz="2400" b="0" dirty="0"/>
              <a:t> during the training process. Though they can be chosen manually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E746D98-AEA5-1106-5FB2-80BA355BCB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noProof="0" dirty="0"/>
              <a:t>How they work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5B18E31-098B-2BC9-A6D2-7726A9D58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87612" y="6456034"/>
            <a:ext cx="8216774" cy="283084"/>
          </a:xfrm>
        </p:spPr>
        <p:txBody>
          <a:bodyPr/>
          <a:lstStyle/>
          <a:p>
            <a:r>
              <a:rPr lang="de-DE" dirty="0"/>
              <a:t>GIF</a:t>
            </a:r>
            <a:r>
              <a:rPr lang="de-DE" dirty="0">
                <a:solidFill>
                  <a:srgbClr val="6F6F6E"/>
                </a:solidFill>
              </a:rPr>
              <a:t>: </a:t>
            </a:r>
            <a:r>
              <a:rPr lang="en-GB" sz="1400" b="0" dirty="0"/>
              <a:t>https://commons.wikimedia.org/wiki/File:2D_Convolution_Animation.gif </a:t>
            </a:r>
            <a:r>
              <a:rPr lang="en-GB" sz="1400" b="0" i="1" dirty="0"/>
              <a:t>license: </a:t>
            </a:r>
            <a:r>
              <a:rPr lang="en-GB" sz="1400" b="0" dirty="0"/>
              <a:t>CC BY-SA 3.0</a:t>
            </a:r>
            <a:endParaRPr lang="de-DE" sz="1400" b="0" dirty="0"/>
          </a:p>
          <a:p>
            <a:r>
              <a:rPr lang="de-DE" dirty="0">
                <a:solidFill>
                  <a:srgbClr val="6F6F6E"/>
                </a:solidFill>
              </a:rPr>
              <a:t> 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89B20EF-B4B7-6936-CC00-402571C25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AF7BE-D89C-6B49-BAC7-BAB901C4C797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FFBD12C-82AC-DC35-E476-0215DB877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717F-68C7-774B-A5E1-BB8004DE5120}" type="datetime1">
              <a:rPr lang="de-DE" smtClean="0"/>
              <a:t>06.05.2026</a:t>
            </a:fld>
            <a:endParaRPr lang="de-DE" dirty="0"/>
          </a:p>
        </p:txBody>
      </p:sp>
      <p:pic>
        <p:nvPicPr>
          <p:cNvPr id="9" name="Picture 8" descr="A screenshot of a computer game&#10;&#10;Description automatically generated">
            <a:extLst>
              <a:ext uri="{FF2B5EF4-FFF2-40B4-BE49-F238E27FC236}">
                <a16:creationId xmlns:a16="http://schemas.microsoft.com/office/drawing/2014/main" id="{642842CD-9B4B-B1A5-C162-D1C2B41BE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1825624"/>
            <a:ext cx="5044811" cy="4462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846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A74A80F7-4763-C44D-A048-DE8E2C70E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Convolutions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2DFAD52-90C9-D84B-9D81-A5312EDE3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462716"/>
          </a:xfrm>
        </p:spPr>
        <p:txBody>
          <a:bodyPr/>
          <a:lstStyle/>
          <a:p>
            <a:r>
              <a:rPr lang="en-GB" sz="2400" b="0" dirty="0"/>
              <a:t>This kernel is setup to detect horizontal edge from dark to bright.</a:t>
            </a:r>
          </a:p>
          <a:p>
            <a:pPr marL="0" indent="0">
              <a:buNone/>
            </a:pPr>
            <a:endParaRPr lang="en-GB" sz="2400" b="0" dirty="0"/>
          </a:p>
          <a:p>
            <a:r>
              <a:rPr lang="en-GB" sz="2400" dirty="0">
                <a:solidFill>
                  <a:srgbClr val="0202BE"/>
                </a:solidFill>
              </a:rPr>
              <a:t>o</a:t>
            </a:r>
            <a:r>
              <a:rPr lang="en-GB" sz="2400" dirty="0"/>
              <a:t> = </a:t>
            </a:r>
            <a:r>
              <a:rPr lang="en-GB" sz="2400" dirty="0">
                <a:solidFill>
                  <a:srgbClr val="36FF21"/>
                </a:solidFill>
              </a:rPr>
              <a:t>I</a:t>
            </a:r>
            <a:r>
              <a:rPr lang="en-GB" sz="2400" dirty="0"/>
              <a:t> : </a:t>
            </a:r>
            <a:r>
              <a:rPr lang="en-GB" sz="2400" dirty="0">
                <a:solidFill>
                  <a:srgbClr val="FFC000"/>
                </a:solidFill>
              </a:rPr>
              <a:t>K </a:t>
            </a:r>
            <a:r>
              <a:rPr lang="en-GB" sz="2400" dirty="0"/>
              <a:t>+ </a:t>
            </a:r>
            <a:r>
              <a:rPr lang="en-GB" sz="2400" dirty="0">
                <a:solidFill>
                  <a:srgbClr val="7030A0"/>
                </a:solidFill>
              </a:rPr>
              <a:t>b</a:t>
            </a:r>
            <a:endParaRPr lang="en-GB" sz="2400" dirty="0"/>
          </a:p>
          <a:p>
            <a:endParaRPr lang="en-GB" sz="2400" dirty="0"/>
          </a:p>
          <a:p>
            <a:r>
              <a:rPr lang="en-GB" sz="2400" b="0" dirty="0"/>
              <a:t>The </a:t>
            </a:r>
            <a:r>
              <a:rPr lang="en-GB" sz="2400" dirty="0">
                <a:solidFill>
                  <a:srgbClr val="7030A0"/>
                </a:solidFill>
              </a:rPr>
              <a:t>bias (b) </a:t>
            </a:r>
            <a:r>
              <a:rPr lang="en-GB" sz="2400" b="0" dirty="0"/>
              <a:t>is added, it is also learned. Here it is 0.</a:t>
            </a:r>
          </a:p>
          <a:p>
            <a:endParaRPr lang="en-GB" sz="2400" b="0" dirty="0"/>
          </a:p>
          <a:p>
            <a:r>
              <a:rPr lang="en-GB" sz="2400" b="0" dirty="0"/>
              <a:t>The top pixels are brighter than the bottom pixels. Therefore, the sum ends up positive.</a:t>
            </a:r>
          </a:p>
          <a:p>
            <a:endParaRPr lang="en-GB" sz="2400" b="0" dirty="0"/>
          </a:p>
          <a:p>
            <a:pPr marL="0" indent="0">
              <a:buNone/>
            </a:pPr>
            <a:endParaRPr lang="en-GB" sz="2400" b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4F83CAD-AD60-7C47-84E7-DF66D36D21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noProof="0" dirty="0"/>
              <a:t>Edge detection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0CBB81D-FCB5-9649-A00D-F0E13E812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…</a:t>
            </a:r>
          </a:p>
          <a:p>
            <a:endParaRPr lang="en-GB" noProof="0" dirty="0">
              <a:solidFill>
                <a:srgbClr val="6F6F6E"/>
              </a:solidFill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C531E53-8B72-B44B-B3A8-60D4081E0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AF7BE-D89C-6B49-BAC7-BAB901C4C797}" type="slidenum">
              <a:rPr lang="en-GB" noProof="0" smtClean="0"/>
              <a:pPr/>
              <a:t>6</a:t>
            </a:fld>
            <a:endParaRPr lang="en-GB" noProof="0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81D1632-CE4B-7E42-8D6B-6A6C6BD3D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717F-68C7-774B-A5E1-BB8004DE5120}" type="datetime1">
              <a:rPr lang="en-GB" noProof="0" smtClean="0"/>
              <a:t>06/05/2026</a:t>
            </a:fld>
            <a:endParaRPr lang="en-GB" noProof="0" dirty="0"/>
          </a:p>
        </p:txBody>
      </p:sp>
      <p:sp>
        <p:nvSpPr>
          <p:cNvPr id="8" name="Inhaltsplatzhalter 4">
            <a:extLst>
              <a:ext uri="{FF2B5EF4-FFF2-40B4-BE49-F238E27FC236}">
                <a16:creationId xmlns:a16="http://schemas.microsoft.com/office/drawing/2014/main" id="{95E171C7-B8C6-5A69-2B9A-758328F6E430}"/>
              </a:ext>
            </a:extLst>
          </p:cNvPr>
          <p:cNvSpPr txBox="1">
            <a:spLocks/>
          </p:cNvSpPr>
          <p:nvPr/>
        </p:nvSpPr>
        <p:spPr>
          <a:xfrm>
            <a:off x="5981700" y="1825625"/>
            <a:ext cx="5257800" cy="44627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i="0" kern="1200">
                <a:solidFill>
                  <a:srgbClr val="6F6F6E"/>
                </a:solidFill>
                <a:latin typeface="Lato" panose="020F0502020204030203" pitchFamily="34" charset="0"/>
                <a:ea typeface="+mn-ea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i="0" kern="1200">
                <a:solidFill>
                  <a:srgbClr val="6F6F6E"/>
                </a:solidFill>
                <a:latin typeface="Lato" panose="020F0502020204030203" pitchFamily="34" charset="0"/>
                <a:ea typeface="+mn-ea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i="0" kern="1200">
                <a:solidFill>
                  <a:srgbClr val="6F6F6E"/>
                </a:solidFill>
                <a:latin typeface="Lato" panose="020F0502020204030203" pitchFamily="34" charset="0"/>
                <a:ea typeface="+mn-ea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i="0" kern="1200">
                <a:solidFill>
                  <a:srgbClr val="6F6F6E"/>
                </a:solidFill>
                <a:latin typeface="Lato" panose="020F0502020204030203" pitchFamily="34" charset="0"/>
                <a:ea typeface="+mn-ea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i="0" kern="1200">
                <a:solidFill>
                  <a:srgbClr val="6F6F6E"/>
                </a:solidFill>
                <a:latin typeface="Lato" panose="020F0502020204030203" pitchFamily="34" charset="0"/>
                <a:ea typeface="+mn-ea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2400" b="0" dirty="0"/>
          </a:p>
        </p:txBody>
      </p:sp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B5E74C9C-C737-35C7-91F3-BEABD9586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25626"/>
            <a:ext cx="5753769" cy="4462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353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339A4-DE37-CAD4-8359-49392652C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3BC0B32-0C60-4F61-44DF-F8445CD03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Convolutions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08FA8AF1-ED21-2A78-5FB0-86228A5BF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462716"/>
          </a:xfrm>
        </p:spPr>
        <p:txBody>
          <a:bodyPr/>
          <a:lstStyle/>
          <a:p>
            <a:r>
              <a:rPr lang="en-GB" sz="2400" b="0" dirty="0"/>
              <a:t>For my design values are restricted to lie between 0 and 1.</a:t>
            </a:r>
          </a:p>
          <a:p>
            <a:endParaRPr lang="en-GB" sz="2400" b="0" dirty="0"/>
          </a:p>
          <a:p>
            <a:r>
              <a:rPr lang="en-GB" sz="2400" b="0" dirty="0"/>
              <a:t>Activation function: f(x) = min(1,max(0,</a:t>
            </a:r>
            <a:r>
              <a:rPr lang="en-GB" sz="2400" dirty="0"/>
              <a:t>x</a:t>
            </a:r>
            <a:r>
              <a:rPr lang="en-GB" sz="2400" b="0" dirty="0"/>
              <a:t>))</a:t>
            </a:r>
          </a:p>
          <a:p>
            <a:endParaRPr lang="en-GB" sz="2400" b="0" dirty="0"/>
          </a:p>
          <a:p>
            <a:r>
              <a:rPr lang="en-GB" sz="2400" b="0" dirty="0"/>
              <a:t>The full function therefore looks like this: </a:t>
            </a:r>
            <a:r>
              <a:rPr lang="en-GB" sz="2400" dirty="0">
                <a:solidFill>
                  <a:srgbClr val="0202BE"/>
                </a:solidFill>
              </a:rPr>
              <a:t>o</a:t>
            </a:r>
            <a:r>
              <a:rPr lang="en-GB" sz="2400" b="0" dirty="0"/>
              <a:t> = min(1,max(0,</a:t>
            </a:r>
            <a:r>
              <a:rPr lang="en-GB" sz="2400" dirty="0">
                <a:solidFill>
                  <a:srgbClr val="36FF21"/>
                </a:solidFill>
              </a:rPr>
              <a:t> I</a:t>
            </a:r>
            <a:r>
              <a:rPr lang="en-GB" sz="2400" dirty="0"/>
              <a:t> : </a:t>
            </a:r>
            <a:r>
              <a:rPr lang="en-GB" sz="2400" dirty="0">
                <a:solidFill>
                  <a:srgbClr val="FFC000"/>
                </a:solidFill>
              </a:rPr>
              <a:t>K </a:t>
            </a:r>
            <a:r>
              <a:rPr lang="en-GB" sz="2400" dirty="0"/>
              <a:t>+ </a:t>
            </a:r>
            <a:r>
              <a:rPr lang="en-GB" sz="2400" dirty="0">
                <a:solidFill>
                  <a:srgbClr val="7030A0"/>
                </a:solidFill>
              </a:rPr>
              <a:t>b</a:t>
            </a:r>
            <a:r>
              <a:rPr lang="en-GB" sz="2400" b="0" dirty="0"/>
              <a:t>))</a:t>
            </a:r>
          </a:p>
          <a:p>
            <a:endParaRPr lang="en-GB" sz="2400" b="0" dirty="0"/>
          </a:p>
          <a:p>
            <a:r>
              <a:rPr lang="en-GB" sz="2400" b="0" dirty="0"/>
              <a:t>This nonlinearity is required to represent complex relationships.</a:t>
            </a:r>
          </a:p>
          <a:p>
            <a:endParaRPr lang="en-GB" sz="2400" b="0" dirty="0"/>
          </a:p>
          <a:p>
            <a:pPr marL="0" indent="0">
              <a:buNone/>
            </a:pPr>
            <a:endParaRPr lang="en-GB" sz="2400" b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568C918-4214-2663-B087-C5D64CB3CF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noProof="0" dirty="0"/>
              <a:t>The activation function</a:t>
            </a:r>
          </a:p>
          <a:p>
            <a:endParaRPr lang="en-GB" noProof="0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6CB6A1B-E7F8-623A-C164-2C1078A5C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…</a:t>
            </a:r>
          </a:p>
          <a:p>
            <a:endParaRPr lang="en-GB" noProof="0" dirty="0">
              <a:solidFill>
                <a:srgbClr val="6F6F6E"/>
              </a:solidFill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5B3E89A-3EDA-1837-2BB1-DA7059A66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AF7BE-D89C-6B49-BAC7-BAB901C4C797}" type="slidenum">
              <a:rPr lang="en-GB" noProof="0" smtClean="0"/>
              <a:pPr/>
              <a:t>7</a:t>
            </a:fld>
            <a:endParaRPr lang="en-GB" noProof="0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8A614EF-5E6C-02DF-E054-4A397225D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717F-68C7-774B-A5E1-BB8004DE5120}" type="datetime1">
              <a:rPr lang="en-GB" noProof="0" smtClean="0"/>
              <a:t>06/05/2026</a:t>
            </a:fld>
            <a:endParaRPr lang="en-GB" noProof="0" dirty="0"/>
          </a:p>
        </p:txBody>
      </p:sp>
      <p:sp>
        <p:nvSpPr>
          <p:cNvPr id="8" name="Inhaltsplatzhalter 4">
            <a:extLst>
              <a:ext uri="{FF2B5EF4-FFF2-40B4-BE49-F238E27FC236}">
                <a16:creationId xmlns:a16="http://schemas.microsoft.com/office/drawing/2014/main" id="{B5DDD277-49E3-02D5-C6B4-91965C18206D}"/>
              </a:ext>
            </a:extLst>
          </p:cNvPr>
          <p:cNvSpPr txBox="1">
            <a:spLocks/>
          </p:cNvSpPr>
          <p:nvPr/>
        </p:nvSpPr>
        <p:spPr>
          <a:xfrm>
            <a:off x="5981700" y="1825625"/>
            <a:ext cx="5257800" cy="44627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i="0" kern="1200">
                <a:solidFill>
                  <a:srgbClr val="6F6F6E"/>
                </a:solidFill>
                <a:latin typeface="Lato" panose="020F0502020204030203" pitchFamily="34" charset="0"/>
                <a:ea typeface="+mn-ea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i="0" kern="1200">
                <a:solidFill>
                  <a:srgbClr val="6F6F6E"/>
                </a:solidFill>
                <a:latin typeface="Lato" panose="020F0502020204030203" pitchFamily="34" charset="0"/>
                <a:ea typeface="+mn-ea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i="0" kern="1200">
                <a:solidFill>
                  <a:srgbClr val="6F6F6E"/>
                </a:solidFill>
                <a:latin typeface="Lato" panose="020F0502020204030203" pitchFamily="34" charset="0"/>
                <a:ea typeface="+mn-ea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i="0" kern="1200">
                <a:solidFill>
                  <a:srgbClr val="6F6F6E"/>
                </a:solidFill>
                <a:latin typeface="Lato" panose="020F0502020204030203" pitchFamily="34" charset="0"/>
                <a:ea typeface="+mn-ea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i="0" kern="1200">
                <a:solidFill>
                  <a:srgbClr val="6F6F6E"/>
                </a:solidFill>
                <a:latin typeface="Lato" panose="020F0502020204030203" pitchFamily="34" charset="0"/>
                <a:ea typeface="+mn-ea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2400" b="0" dirty="0"/>
          </a:p>
        </p:txBody>
      </p:sp>
      <p:pic>
        <p:nvPicPr>
          <p:cNvPr id="10" name="Picture 9" descr="A graph of a function&#10;&#10;Description automatically generated">
            <a:extLst>
              <a:ext uri="{FF2B5EF4-FFF2-40B4-BE49-F238E27FC236}">
                <a16:creationId xmlns:a16="http://schemas.microsoft.com/office/drawing/2014/main" id="{0FB2E0FA-9CF5-70EC-642E-C99B25611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1825624"/>
            <a:ext cx="5262563" cy="350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045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3FDFD-FA52-96B8-CB62-5201D5EEB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C422CE7-27D3-1137-D9A9-A16AC2707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Convolutions - interactive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91D7736-6EF4-5CAF-6F6E-FB36E2FC6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b="0" noProof="0" dirty="0"/>
              <a:t>Now we are taking the role of the training process</a:t>
            </a:r>
            <a:r>
              <a:rPr lang="en-GB" sz="2400" b="0" dirty="0"/>
              <a:t> and choose some kernel parameters.</a:t>
            </a:r>
            <a:endParaRPr lang="en-GB" sz="2400" b="0" noProof="0" dirty="0"/>
          </a:p>
          <a:p>
            <a:endParaRPr lang="en-GB" sz="2400" b="0" dirty="0"/>
          </a:p>
          <a:p>
            <a:r>
              <a:rPr lang="en-GB" sz="2400" b="0" dirty="0"/>
              <a:t>This is normally done by a training algorithm.</a:t>
            </a:r>
          </a:p>
          <a:p>
            <a:endParaRPr lang="en-GB" sz="2400" b="0" dirty="0"/>
          </a:p>
          <a:p>
            <a:pPr marL="457200" indent="-457200">
              <a:buAutoNum type="arabicParenBoth"/>
            </a:pPr>
            <a:r>
              <a:rPr lang="en-GB" sz="2400" b="0" noProof="0" dirty="0"/>
              <a:t>Collectively</a:t>
            </a:r>
          </a:p>
          <a:p>
            <a:pPr marL="457200" indent="-457200">
              <a:buAutoNum type="arabicParenBoth"/>
            </a:pPr>
            <a:endParaRPr lang="en-GB" sz="2400" b="0" noProof="0" dirty="0"/>
          </a:p>
          <a:p>
            <a:pPr lvl="1"/>
            <a:r>
              <a:rPr lang="en-GB" sz="2000" b="0" noProof="0" dirty="0"/>
              <a:t>Let us try to detect an edge with opposite direction.</a:t>
            </a:r>
          </a:p>
          <a:p>
            <a:pPr lvl="1"/>
            <a:endParaRPr lang="en-GB" sz="2000" b="0" dirty="0"/>
          </a:p>
          <a:p>
            <a:pPr lvl="1"/>
            <a:r>
              <a:rPr lang="en-GB" sz="2000" b="0" noProof="0" dirty="0"/>
              <a:t>What should the kernel be?</a:t>
            </a:r>
          </a:p>
          <a:p>
            <a:endParaRPr lang="en-GB" sz="2400" b="0" noProof="0" dirty="0"/>
          </a:p>
          <a:p>
            <a:endParaRPr lang="en-GB" sz="2400" b="0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FD000D2E-A4D9-54C4-33C4-EAEA4433B5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noProof="0" dirty="0"/>
              <a:t>Edge &amp; line detection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E872137E-E531-7E4F-EF0E-760206D14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>
                <a:solidFill>
                  <a:srgbClr val="6F6F6E"/>
                </a:solidFill>
              </a:rPr>
              <a:t>…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ED10C58-EF03-FCC4-1C97-07C6C4198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AF7BE-D89C-6B49-BAC7-BAB901C4C797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D37D6CC-2EE7-F1F6-9365-93E7AA8B8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717F-68C7-774B-A5E1-BB8004DE5120}" type="datetime1">
              <a:rPr lang="de-DE" smtClean="0"/>
              <a:t>06.05.2026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38103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D4B30-A17D-5BB8-43F3-1B30CDB48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F8EDF13D-DD0F-46E9-1160-8557A1080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Convolutions - interactive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C70D9A49-470D-3F0E-60D6-3D62BF215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 b="0" noProof="0" dirty="0"/>
              <a:t>(2) Individually</a:t>
            </a:r>
          </a:p>
          <a:p>
            <a:pPr marL="457200" indent="-457200">
              <a:buAutoNum type="arabicParenBoth"/>
            </a:pPr>
            <a:endParaRPr lang="en-GB" sz="2400" b="0" noProof="0" dirty="0"/>
          </a:p>
          <a:p>
            <a:pPr lvl="1"/>
            <a:r>
              <a:rPr lang="en-GB" sz="2000" b="0" noProof="0" dirty="0"/>
              <a:t>Let us try to detect bright vertical lines on a darker background</a:t>
            </a:r>
          </a:p>
          <a:p>
            <a:pPr lvl="1"/>
            <a:endParaRPr lang="en-GB" sz="2000" b="0" dirty="0"/>
          </a:p>
          <a:p>
            <a:pPr lvl="1"/>
            <a:r>
              <a:rPr lang="en-GB" sz="2000" b="0" noProof="0" dirty="0"/>
              <a:t>What should the kernel be?</a:t>
            </a:r>
          </a:p>
          <a:p>
            <a:endParaRPr lang="en-GB" sz="2400" b="0" noProof="0" dirty="0"/>
          </a:p>
          <a:p>
            <a:r>
              <a:rPr lang="en-GB" sz="2400" b="0" dirty="0"/>
              <a:t>Some Notes:</a:t>
            </a:r>
          </a:p>
          <a:p>
            <a:pPr lvl="1"/>
            <a:r>
              <a:rPr lang="en-GB" sz="2000" b="0" noProof="0" dirty="0"/>
              <a:t>Use relatively low numbers as </a:t>
            </a:r>
            <a:r>
              <a:rPr lang="en-GB" sz="2000" b="0" dirty="0"/>
              <a:t>weights.</a:t>
            </a:r>
            <a:endParaRPr lang="en-GB" sz="2000" b="0" noProof="0" dirty="0"/>
          </a:p>
          <a:p>
            <a:pPr lvl="1"/>
            <a:r>
              <a:rPr lang="en-GB" sz="2000" b="0" noProof="0" dirty="0"/>
              <a:t>Try to make the kernels average be close to zero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375AA50-45EB-C3BE-4C1C-3C023D6E69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noProof="0" dirty="0"/>
              <a:t>   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4644D9F-5099-13F7-C273-5947DCCAC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>
                <a:solidFill>
                  <a:srgbClr val="6F6F6E"/>
                </a:solidFill>
              </a:rPr>
              <a:t>…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0C30EC4-18F0-EC6E-820A-AC03DA5D2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AF7BE-D89C-6B49-BAC7-BAB901C4C797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75C1E35-C158-8362-CA04-12D2FADDC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717F-68C7-774B-A5E1-BB8004DE5120}" type="datetime1">
              <a:rPr lang="de-DE" smtClean="0"/>
              <a:t>06.05.2026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76462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0A8E5-5941-4423-757F-35EFDCF90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DD3753C-CBC5-5828-8150-A614C9D13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Lamppost detector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307764CE-1B59-85C6-5AC5-13E6917E5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b="0" noProof="0" dirty="0"/>
              <a:t>The rest of the network was already set up by me. It was not automatically trained.</a:t>
            </a:r>
          </a:p>
          <a:p>
            <a:endParaRPr lang="en-GB" sz="2400" b="0" noProof="0" dirty="0"/>
          </a:p>
          <a:p>
            <a:r>
              <a:rPr lang="en-GB" sz="2400" b="0" noProof="0" dirty="0"/>
              <a:t>You can see it detects the lampposts</a:t>
            </a:r>
          </a:p>
          <a:p>
            <a:pPr lvl="1"/>
            <a:endParaRPr lang="en-GB" sz="2000" b="0" noProof="0" dirty="0"/>
          </a:p>
          <a:p>
            <a:pPr lvl="1"/>
            <a:r>
              <a:rPr lang="en-GB" sz="2000" b="0" noProof="0" dirty="0"/>
              <a:t>The image must have high contrast between the mast and the background</a:t>
            </a:r>
          </a:p>
          <a:p>
            <a:pPr lvl="1"/>
            <a:endParaRPr lang="en-GB" sz="2000" b="0" noProof="0" dirty="0"/>
          </a:p>
          <a:p>
            <a:pPr lvl="1"/>
            <a:r>
              <a:rPr lang="en-GB" sz="2000" b="0" noProof="0" dirty="0"/>
              <a:t>The post must brighter then the background</a:t>
            </a:r>
          </a:p>
          <a:p>
            <a:pPr lvl="1"/>
            <a:endParaRPr lang="en-GB" sz="2000" b="0" noProof="0" dirty="0"/>
          </a:p>
          <a:p>
            <a:pPr lvl="1"/>
            <a:r>
              <a:rPr lang="en-GB" sz="2000" b="0" noProof="0" dirty="0"/>
              <a:t>It must glow at the top</a:t>
            </a:r>
          </a:p>
          <a:p>
            <a:pPr lvl="1"/>
            <a:endParaRPr lang="en-GB" sz="2000" b="0" noProof="0" dirty="0"/>
          </a:p>
          <a:p>
            <a:pPr lvl="1"/>
            <a:r>
              <a:rPr lang="en-GB" sz="2000" b="0" noProof="0" dirty="0"/>
              <a:t>The image must be exposed so that the light is close to maximum brightness</a:t>
            </a:r>
          </a:p>
          <a:p>
            <a:pPr lvl="1"/>
            <a:endParaRPr lang="en-GB" sz="2000" b="0" noProof="0" dirty="0"/>
          </a:p>
          <a:p>
            <a:endParaRPr lang="en-GB" sz="2400" b="0" noProof="0" dirty="0"/>
          </a:p>
          <a:p>
            <a:pPr lvl="1"/>
            <a:endParaRPr lang="en-GB" b="0" noProof="0" dirty="0"/>
          </a:p>
          <a:p>
            <a:endParaRPr lang="en-GB" sz="2400" b="0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CF9484ED-36EF-F94F-DEA1-26D851A36F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noProof="0" dirty="0"/>
              <a:t>    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0ECBAFD-006C-988F-C6E5-2E9F3EC77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>
                <a:solidFill>
                  <a:srgbClr val="6F6F6E"/>
                </a:solidFill>
              </a:rPr>
              <a:t>…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7DB27ED-2333-D85D-50A4-28E60136C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AF7BE-D89C-6B49-BAC7-BAB901C4C797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0CF3515-D184-6762-6F9E-7C37CAB08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717F-68C7-774B-A5E1-BB8004DE5120}" type="datetime1">
              <a:rPr lang="de-DE" smtClean="0"/>
              <a:t>06.05.2026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85142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AA9C4-8C74-BEFC-3078-89A2D2BDD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66699B5C-9B2C-69EB-09D0-F1E015E5E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Lamppost detector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7A9183-2199-0B04-DE81-3553FA1FA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62716"/>
          </a:xfrm>
        </p:spPr>
        <p:txBody>
          <a:bodyPr/>
          <a:lstStyle/>
          <a:p>
            <a:r>
              <a:rPr lang="en-GB" sz="2400" b="0" dirty="0"/>
              <a:t>There are more layers.</a:t>
            </a:r>
          </a:p>
          <a:p>
            <a:endParaRPr lang="en-GB" sz="2400" b="0" dirty="0"/>
          </a:p>
          <a:p>
            <a:r>
              <a:rPr lang="en-GB" sz="2400" b="0" dirty="0"/>
              <a:t>Some take a previous layer as input.</a:t>
            </a:r>
          </a:p>
          <a:p>
            <a:endParaRPr lang="en-GB" sz="2400" b="0" noProof="0" dirty="0"/>
          </a:p>
          <a:p>
            <a:r>
              <a:rPr lang="en-GB" sz="2400" b="0" dirty="0"/>
              <a:t>D is a filter over B which intern detects overexposed areas (lamps).</a:t>
            </a:r>
          </a:p>
          <a:p>
            <a:endParaRPr lang="en-GB" sz="2400" b="0" dirty="0"/>
          </a:p>
          <a:p>
            <a:r>
              <a:rPr lang="en-GB" sz="2400" b="0" dirty="0"/>
              <a:t>C filters the vertical line detector, so that (hopefully) only actual posts remain.</a:t>
            </a:r>
          </a:p>
          <a:p>
            <a:pPr marL="0" indent="0">
              <a:buNone/>
            </a:pPr>
            <a:endParaRPr lang="en-GB" sz="2400" b="0" dirty="0"/>
          </a:p>
          <a:p>
            <a:r>
              <a:rPr lang="en-GB" sz="2400" b="0" dirty="0"/>
              <a:t>The output layer activates in areas were both C and D are activated.</a:t>
            </a:r>
          </a:p>
          <a:p>
            <a:endParaRPr lang="en-GB" sz="2400" b="0" dirty="0"/>
          </a:p>
          <a:p>
            <a:endParaRPr lang="en-GB" sz="2400" b="0" noProof="0" dirty="0"/>
          </a:p>
          <a:p>
            <a:endParaRPr lang="en-GB" sz="2000" b="0" noProof="0" dirty="0"/>
          </a:p>
          <a:p>
            <a:endParaRPr lang="en-GB" sz="2400" b="0" noProof="0" dirty="0"/>
          </a:p>
          <a:p>
            <a:pPr lvl="1"/>
            <a:endParaRPr lang="en-GB" b="0" noProof="0" dirty="0"/>
          </a:p>
          <a:p>
            <a:endParaRPr lang="en-GB" sz="2400" b="0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924559A4-8952-644A-82D4-AF41FB9CC9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Briefly; How does it work?</a:t>
            </a:r>
            <a:endParaRPr lang="en-GB" noProof="0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2F66BAC-D5C0-B5C3-E6D3-D78CCBD5F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>
                <a:solidFill>
                  <a:srgbClr val="6F6F6E"/>
                </a:solidFill>
              </a:rPr>
              <a:t>…</a:t>
            </a:r>
          </a:p>
          <a:p>
            <a:endParaRPr lang="de-DE" dirty="0">
              <a:solidFill>
                <a:srgbClr val="6F6F6E"/>
              </a:solidFill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DBB6675-B8B5-B716-4982-55FB45F86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AF7BE-D89C-6B49-BAC7-BAB901C4C797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EDE9470-ED8F-D9C2-8655-BA4A5711B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717F-68C7-774B-A5E1-BB8004DE5120}" type="datetime1">
              <a:rPr lang="de-DE" smtClean="0"/>
              <a:t>06.05.2026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29462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723C3-AF1C-7E2A-2AB0-334E8944A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A0381511-FBD4-AB28-14E2-FCD315E8C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Conclusion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C0165FEB-3B97-40BF-ACE8-9B48167C3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62716"/>
          </a:xfrm>
        </p:spPr>
        <p:txBody>
          <a:bodyPr/>
          <a:lstStyle/>
          <a:p>
            <a:r>
              <a:rPr lang="en-GB" sz="2400" b="0" dirty="0"/>
              <a:t>Usually kernel parameters are much less straight forward to interpret then they are here.</a:t>
            </a:r>
            <a:endParaRPr lang="en-GB" sz="2400" b="0" noProof="0" dirty="0"/>
          </a:p>
          <a:p>
            <a:endParaRPr lang="en-GB" sz="2400" b="0" dirty="0"/>
          </a:p>
          <a:p>
            <a:r>
              <a:rPr lang="en-GB" sz="2400" b="0" noProof="0" dirty="0"/>
              <a:t>Nonetheless, you </a:t>
            </a:r>
            <a:r>
              <a:rPr lang="en-GB" sz="2400" b="0" dirty="0"/>
              <a:t>now hopefully have a better intuition of how neural network might detect objects or do any other task.</a:t>
            </a:r>
            <a:endParaRPr lang="en-GB" sz="2400" b="0" noProof="0" dirty="0"/>
          </a:p>
          <a:p>
            <a:endParaRPr lang="en-GB" sz="2400" b="0" noProof="0" dirty="0"/>
          </a:p>
          <a:p>
            <a:r>
              <a:rPr lang="en-GB" sz="2400" b="0" dirty="0"/>
              <a:t>This is only one kind of architecture for a neural net. Other purposes require other kinds of neural nets.</a:t>
            </a:r>
          </a:p>
          <a:p>
            <a:endParaRPr lang="en-GB" sz="2400" b="0" noProof="0" dirty="0"/>
          </a:p>
          <a:p>
            <a:r>
              <a:rPr lang="en-GB" sz="2400" b="0" dirty="0"/>
              <a:t>THANK YOU FOR YOUR ATTENTION!</a:t>
            </a:r>
            <a:endParaRPr lang="en-GB" sz="2000" b="0" noProof="0" dirty="0"/>
          </a:p>
          <a:p>
            <a:endParaRPr lang="en-GB" sz="2400" b="0" noProof="0" dirty="0"/>
          </a:p>
          <a:p>
            <a:pPr lvl="1"/>
            <a:endParaRPr lang="en-GB" b="0" noProof="0" dirty="0"/>
          </a:p>
          <a:p>
            <a:endParaRPr lang="en-GB" sz="2400" b="0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94688D6-AAD3-21B3-A4F3-7A06736DE2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    </a:t>
            </a:r>
            <a:endParaRPr lang="en-GB" noProof="0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0E68DCB-3907-9F1F-3818-F67FE1A26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>
                <a:solidFill>
                  <a:srgbClr val="6F6F6E"/>
                </a:solidFill>
              </a:rPr>
              <a:t>…</a:t>
            </a:r>
          </a:p>
          <a:p>
            <a:endParaRPr lang="de-DE" dirty="0">
              <a:solidFill>
                <a:srgbClr val="6F6F6E"/>
              </a:solidFill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E878349-E834-C883-9B2F-C4F88235F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AF7BE-D89C-6B49-BAC7-BAB901C4C797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3B758EB-3510-F3EB-BB2A-B1480ED22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717F-68C7-774B-A5E1-BB8004DE5120}" type="datetime1">
              <a:rPr lang="de-DE" smtClean="0"/>
              <a:t>06.05.2026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4585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B8676-B7E8-1084-AF08-00698D568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3C5808C-B0DD-AF57-FAE1-3E3BFD16B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Copyright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ADC3CB2-764B-7116-82AD-5CC19F16E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62716"/>
          </a:xfrm>
        </p:spPr>
        <p:txBody>
          <a:bodyPr/>
          <a:lstStyle/>
          <a:p>
            <a:pPr marL="0" indent="0">
              <a:buNone/>
            </a:pPr>
            <a:r>
              <a:rPr lang="en-GB" sz="2000" b="0" dirty="0"/>
              <a:t>© 2026 by Keno </a:t>
            </a:r>
            <a:r>
              <a:rPr lang="en-GB" sz="2000" b="0" dirty="0" err="1"/>
              <a:t>Pecht</a:t>
            </a:r>
            <a:r>
              <a:rPr lang="en-GB" sz="2000" b="0" dirty="0"/>
              <a:t>. This work is licensed under a Attribution-</a:t>
            </a:r>
            <a:r>
              <a:rPr lang="en-GB" sz="2000" b="0" dirty="0" err="1"/>
              <a:t>ShareAlike</a:t>
            </a:r>
            <a:r>
              <a:rPr lang="en-GB" sz="2000" b="0" dirty="0"/>
              <a:t> 4.0 International License.</a:t>
            </a:r>
          </a:p>
          <a:p>
            <a:pPr marL="0" indent="0">
              <a:buNone/>
            </a:pPr>
            <a:endParaRPr lang="en-GB" sz="2000" b="0" dirty="0"/>
          </a:p>
          <a:p>
            <a:pPr marL="0" indent="0">
              <a:buNone/>
            </a:pPr>
            <a:r>
              <a:rPr lang="en-GB" sz="2000" b="0" dirty="0"/>
              <a:t>Link to license: </a:t>
            </a:r>
            <a:r>
              <a:rPr lang="en-GB" sz="2000" b="0" dirty="0">
                <a:hlinkClick r:id="rId2"/>
              </a:rPr>
              <a:t>https://creativecommons.org/licenses/by-sa/4.0/deed.en</a:t>
            </a:r>
            <a:endParaRPr lang="en-GB" sz="2000" b="0" dirty="0"/>
          </a:p>
          <a:p>
            <a:pPr marL="0" indent="0">
              <a:buNone/>
            </a:pPr>
            <a:endParaRPr lang="en-GB" sz="2000" b="0" noProof="0" dirty="0"/>
          </a:p>
          <a:p>
            <a:pPr marL="0" indent="0">
              <a:buNone/>
            </a:pPr>
            <a:r>
              <a:rPr lang="en-GB" sz="2000" b="0" dirty="0"/>
              <a:t>Images are my own work and fall under the license unless stated otherwise.</a:t>
            </a:r>
            <a:endParaRPr lang="en-GB" sz="2000" b="0" noProof="0" dirty="0"/>
          </a:p>
          <a:p>
            <a:pPr marL="0" indent="0">
              <a:buNone/>
            </a:pPr>
            <a:endParaRPr lang="en-GB" sz="2000" b="0" noProof="0" dirty="0"/>
          </a:p>
          <a:p>
            <a:pPr marL="0" indent="0">
              <a:buNone/>
            </a:pPr>
            <a:r>
              <a:rPr lang="en-GB" sz="2000" b="0" noProof="0" dirty="0"/>
              <a:t>The presentation layout and symbols of </a:t>
            </a:r>
            <a:r>
              <a:rPr lang="en-GB" sz="2000" b="0" dirty="0"/>
              <a:t>the University Witten/</a:t>
            </a:r>
            <a:r>
              <a:rPr lang="en-GB" sz="2000" b="0" dirty="0" err="1"/>
              <a:t>Herdecke</a:t>
            </a:r>
            <a:r>
              <a:rPr lang="en-GB" sz="2000" b="0" dirty="0"/>
              <a:t> do not fall under this license.</a:t>
            </a:r>
            <a:endParaRPr lang="en-GB" sz="2000" b="0" noProof="0" dirty="0"/>
          </a:p>
          <a:p>
            <a:pPr marL="0" indent="0">
              <a:buNone/>
            </a:pPr>
            <a:endParaRPr lang="en-GB" sz="2000" b="0" noProof="0" dirty="0"/>
          </a:p>
          <a:p>
            <a:pPr marL="0" indent="0">
              <a:buNone/>
            </a:pPr>
            <a:r>
              <a:rPr lang="en-GB" sz="2000" b="0" noProof="0" dirty="0"/>
              <a:t>Link to work: </a:t>
            </a:r>
            <a:r>
              <a:rPr lang="en-GB" sz="2000" b="0" noProof="0" dirty="0">
                <a:hlinkClick r:id="rId3"/>
              </a:rPr>
              <a:t>https://github.com/KenoPecht-Public/Neural-Networks-an-exemplary-introduction</a:t>
            </a:r>
            <a:r>
              <a:rPr lang="en-GB" sz="2000" b="0" noProof="0" dirty="0"/>
              <a:t> </a:t>
            </a:r>
          </a:p>
          <a:p>
            <a:pPr lvl="1"/>
            <a:endParaRPr lang="en-GB" sz="2000" b="0" noProof="0" dirty="0"/>
          </a:p>
          <a:p>
            <a:endParaRPr lang="en-GB" sz="2000" b="0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E144A80-A221-2CB3-9EA8-997AC23F19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    </a:t>
            </a:r>
            <a:endParaRPr lang="en-GB" noProof="0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28BD483-DE80-818F-0BE5-9DD4D8FB9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>
                <a:solidFill>
                  <a:srgbClr val="6F6F6E"/>
                </a:solidFill>
              </a:rPr>
              <a:t>…</a:t>
            </a:r>
          </a:p>
          <a:p>
            <a:endParaRPr lang="de-DE" dirty="0">
              <a:solidFill>
                <a:srgbClr val="6F6F6E"/>
              </a:solidFill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1BE97AE-A510-9E2A-E043-5FE60E9D2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AF7BE-D89C-6B49-BAC7-BAB901C4C797}" type="slidenum">
              <a:rPr lang="de-DE" smtClean="0"/>
              <a:pPr/>
              <a:t>13</a:t>
            </a:fld>
            <a:endParaRPr lang="de-DE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9E69737-050C-7A9C-9884-8DF9CDDD5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717F-68C7-774B-A5E1-BB8004DE5120}" type="datetime1">
              <a:rPr lang="de-DE" smtClean="0"/>
              <a:t>06.05.2026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29246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0399D-73F8-8E0D-4B67-76C02FD7F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169981F-2CC0-03A2-3E70-F3C950828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Images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6E9A55F-29DA-4F12-324D-9BB053F93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 b="0" dirty="0"/>
              <a:t>GIF on “</a:t>
            </a:r>
            <a:r>
              <a:rPr lang="en-GB" sz="2400" b="0" noProof="0" dirty="0"/>
              <a:t>Convolution</a:t>
            </a:r>
            <a:r>
              <a:rPr lang="en-GB" sz="2400" b="0" dirty="0"/>
              <a:t>(al neural network)s” slide:</a:t>
            </a:r>
          </a:p>
          <a:p>
            <a:pPr marL="0" indent="0">
              <a:buNone/>
            </a:pPr>
            <a:r>
              <a:rPr lang="en-GB" sz="2400" b="0" dirty="0"/>
              <a:t>https://commons.wikimedia.org/wiki/File:2D_Convolution_Animation.gif </a:t>
            </a:r>
            <a:r>
              <a:rPr lang="en-GB" sz="2400" b="0" i="1" dirty="0"/>
              <a:t>license: </a:t>
            </a:r>
            <a:r>
              <a:rPr lang="en-GB" sz="2400" b="0" dirty="0"/>
              <a:t>CC BY-SA 3.0</a:t>
            </a:r>
            <a:endParaRPr lang="de-DE" sz="2400" b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C6937EBF-49CA-38EB-EC9B-F9BEED9279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    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27BC6FB-9A18-D7E1-7AD0-3EC2E89F6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>
                <a:solidFill>
                  <a:srgbClr val="6F6F6E"/>
                </a:solidFill>
              </a:rPr>
              <a:t>…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A7CB02C-0D32-9842-0FE2-3245D0666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AF7BE-D89C-6B49-BAC7-BAB901C4C797}" type="slidenum">
              <a:rPr lang="de-DE" smtClean="0"/>
              <a:pPr/>
              <a:t>14</a:t>
            </a:fld>
            <a:endParaRPr lang="de-DE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BBC7AB2-5F47-34F7-C8C1-137C3C87E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717F-68C7-774B-A5E1-BB8004DE5120}" type="datetime1">
              <a:rPr lang="de-DE" smtClean="0"/>
              <a:t>06.05.2026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2539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075F3-C18D-F500-4B15-51D8D0575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B2E395C-BEFD-8FB9-7205-B06EC1BF7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Resources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3AABFDE-BA8E-F931-748C-0A9FB8D43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2400" b="0" dirty="0"/>
              <a:t>https://stanford.edu/~shervine/teaching/cs-230/cheatsheet-convolutional-neural-networks/</a:t>
            </a:r>
          </a:p>
          <a:p>
            <a:pPr marL="0" indent="0">
              <a:buNone/>
            </a:pPr>
            <a:endParaRPr lang="de-DE" sz="2400" b="0" dirty="0"/>
          </a:p>
          <a:p>
            <a:pPr marL="0" indent="0">
              <a:buNone/>
            </a:pPr>
            <a:r>
              <a:rPr lang="de-DE" sz="2400" b="0" dirty="0"/>
              <a:t>https://doi.org/10.48550/arXiv.1511.08458</a:t>
            </a:r>
          </a:p>
          <a:p>
            <a:pPr marL="0" indent="0">
              <a:buNone/>
            </a:pPr>
            <a:endParaRPr lang="de-DE" sz="2400" b="0" dirty="0"/>
          </a:p>
          <a:p>
            <a:pPr marL="0" indent="0">
              <a:buNone/>
            </a:pPr>
            <a:r>
              <a:rPr lang="de-DE" sz="2400" b="0" dirty="0"/>
              <a:t>https://www.mi.uni-koeln.de/wp-znikolic/wp-content/uploads/2019/06/11-Odenthal.pdf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5D6B90F-8B79-12E2-470B-18280E62EA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    </a:t>
            </a:r>
          </a:p>
          <a:p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2661870-32B6-A454-39AD-03C5A62E5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>
                <a:solidFill>
                  <a:srgbClr val="6F6F6E"/>
                </a:solidFill>
              </a:rPr>
              <a:t>…</a:t>
            </a:r>
          </a:p>
          <a:p>
            <a:endParaRPr lang="de-DE" dirty="0">
              <a:solidFill>
                <a:srgbClr val="6F6F6E"/>
              </a:solidFill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A02662C-B9BF-621A-3555-720389366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AF7BE-D89C-6B49-BAC7-BAB901C4C797}" type="slidenum">
              <a:rPr lang="de-DE" smtClean="0"/>
              <a:pPr/>
              <a:t>15</a:t>
            </a:fld>
            <a:endParaRPr lang="de-DE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C8D9085-4CE6-A5E8-11A7-F0823C2FB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717F-68C7-774B-A5E1-BB8004DE5120}" type="datetime1">
              <a:rPr lang="de-DE" smtClean="0"/>
              <a:t>06.05.2026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45395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905</Words>
  <Application>Microsoft Office PowerPoint</Application>
  <PresentationFormat>Widescreen</PresentationFormat>
  <Paragraphs>183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Lato</vt:lpstr>
      <vt:lpstr>Office</vt:lpstr>
      <vt:lpstr>PowerPoint Presentation</vt:lpstr>
      <vt:lpstr>Neural Networks</vt:lpstr>
      <vt:lpstr>Neural Networks</vt:lpstr>
      <vt:lpstr>Object detection in images </vt:lpstr>
      <vt:lpstr>Convolution(al neural network)s</vt:lpstr>
      <vt:lpstr>Convolutions</vt:lpstr>
      <vt:lpstr>Convolutions</vt:lpstr>
      <vt:lpstr>Convolutions - interactive</vt:lpstr>
      <vt:lpstr>Convolutions - interactive</vt:lpstr>
      <vt:lpstr>Lamppost detector</vt:lpstr>
      <vt:lpstr>Lamppost detector</vt:lpstr>
      <vt:lpstr>Conclusion</vt:lpstr>
      <vt:lpstr>Copyright</vt:lpstr>
      <vt:lpstr>Images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Christian Hilgers</dc:creator>
  <cp:lastModifiedBy>Ano Nyn</cp:lastModifiedBy>
  <cp:revision>153</cp:revision>
  <dcterms:created xsi:type="dcterms:W3CDTF">2020-11-02T13:54:24Z</dcterms:created>
  <dcterms:modified xsi:type="dcterms:W3CDTF">2026-05-06T18:27:50Z</dcterms:modified>
</cp:coreProperties>
</file>